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70" r:id="rId5"/>
    <p:sldId id="271" r:id="rId6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08FCF"/>
    <a:srgbClr val="038D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4EF0E6-F0A3-4FCC-B45A-63FF8CE11670}" v="231" dt="2026-03-22T08:37:01.0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9" autoAdjust="0"/>
    <p:restoredTop sz="94660"/>
  </p:normalViewPr>
  <p:slideViewPr>
    <p:cSldViewPr snapToGrid="0">
      <p:cViewPr varScale="1">
        <p:scale>
          <a:sx n="55" d="100"/>
          <a:sy n="55" d="100"/>
        </p:scale>
        <p:origin x="94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el Vicencio" userId="45df5259ba3d81bd" providerId="LiveId" clId="{4EA767F8-A001-4D45-8B6D-690C8390DCD5}"/>
    <pc:docChg chg="delSld modSld">
      <pc:chgData name="Abel Vicencio" userId="45df5259ba3d81bd" providerId="LiveId" clId="{4EA767F8-A001-4D45-8B6D-690C8390DCD5}" dt="2026-03-22T08:37:23.988" v="246" actId="47"/>
      <pc:docMkLst>
        <pc:docMk/>
      </pc:docMkLst>
      <pc:sldChg chg="modSp mod modAnim">
        <pc:chgData name="Abel Vicencio" userId="45df5259ba3d81bd" providerId="LiveId" clId="{4EA767F8-A001-4D45-8B6D-690C8390DCD5}" dt="2026-03-14T08:45:52.734" v="77" actId="20577"/>
        <pc:sldMkLst>
          <pc:docMk/>
          <pc:sldMk cId="1837039480" sldId="259"/>
        </pc:sldMkLst>
        <pc:spChg chg="mod">
          <ac:chgData name="Abel Vicencio" userId="45df5259ba3d81bd" providerId="LiveId" clId="{4EA767F8-A001-4D45-8B6D-690C8390DCD5}" dt="2026-03-14T08:45:09.474" v="12" actId="20577"/>
          <ac:spMkLst>
            <pc:docMk/>
            <pc:sldMk cId="1837039480" sldId="259"/>
            <ac:spMk id="2" creationId="{00000000-0000-0000-0000-000000000000}"/>
          </ac:spMkLst>
        </pc:spChg>
        <pc:spChg chg="mod">
          <ac:chgData name="Abel Vicencio" userId="45df5259ba3d81bd" providerId="LiveId" clId="{4EA767F8-A001-4D45-8B6D-690C8390DCD5}" dt="2026-03-14T08:45:52.734" v="77" actId="20577"/>
          <ac:spMkLst>
            <pc:docMk/>
            <pc:sldMk cId="1837039480" sldId="259"/>
            <ac:spMk id="3" creationId="{00000000-0000-0000-0000-000000000000}"/>
          </ac:spMkLst>
        </pc:spChg>
      </pc:sldChg>
      <pc:sldChg chg="modSp mod modAnim">
        <pc:chgData name="Abel Vicencio" userId="45df5259ba3d81bd" providerId="LiveId" clId="{4EA767F8-A001-4D45-8B6D-690C8390DCD5}" dt="2026-03-22T08:37:04.214" v="244" actId="1076"/>
        <pc:sldMkLst>
          <pc:docMk/>
          <pc:sldMk cId="861512139" sldId="260"/>
        </pc:sldMkLst>
        <pc:spChg chg="mod">
          <ac:chgData name="Abel Vicencio" userId="45df5259ba3d81bd" providerId="LiveId" clId="{4EA767F8-A001-4D45-8B6D-690C8390DCD5}" dt="2026-03-22T08:36:08.560" v="116" actId="20577"/>
          <ac:spMkLst>
            <pc:docMk/>
            <pc:sldMk cId="861512139" sldId="260"/>
            <ac:spMk id="3" creationId="{00000000-0000-0000-0000-000000000000}"/>
          </ac:spMkLst>
        </pc:spChg>
        <pc:spChg chg="mod">
          <ac:chgData name="Abel Vicencio" userId="45df5259ba3d81bd" providerId="LiveId" clId="{4EA767F8-A001-4D45-8B6D-690C8390DCD5}" dt="2026-03-22T08:37:04.214" v="244" actId="1076"/>
          <ac:spMkLst>
            <pc:docMk/>
            <pc:sldMk cId="861512139" sldId="260"/>
            <ac:spMk id="5" creationId="{00000000-0000-0000-0000-000000000000}"/>
          </ac:spMkLst>
        </pc:spChg>
      </pc:sldChg>
      <pc:sldChg chg="del">
        <pc:chgData name="Abel Vicencio" userId="45df5259ba3d81bd" providerId="LiveId" clId="{4EA767F8-A001-4D45-8B6D-690C8390DCD5}" dt="2026-03-22T08:37:19.701" v="245" actId="47"/>
        <pc:sldMkLst>
          <pc:docMk/>
          <pc:sldMk cId="1167737588" sldId="262"/>
        </pc:sldMkLst>
      </pc:sldChg>
      <pc:sldChg chg="del">
        <pc:chgData name="Abel Vicencio" userId="45df5259ba3d81bd" providerId="LiveId" clId="{4EA767F8-A001-4D45-8B6D-690C8390DCD5}" dt="2026-03-22T08:37:23.988" v="246" actId="47"/>
        <pc:sldMkLst>
          <pc:docMk/>
          <pc:sldMk cId="3983616872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26539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1342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760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75880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0542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697933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877404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33730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09186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9203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06006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75E14E-3399-4729-9487-008C58F41F51}" type="datetimeFigureOut">
              <a:rPr lang="es-MX" smtClean="0"/>
              <a:t>22/03/2026</a:t>
            </a:fld>
            <a:endParaRPr lang="es-MX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704CA6-9F73-4A6D-BC4D-1B760B372A0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56896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61000" b="-6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Introducción a R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>
                <a:solidFill>
                  <a:schemeClr val="bg2"/>
                </a:solidFill>
                <a:latin typeface="Consolas" panose="020B0609020204030204" pitchFamily="49" charset="0"/>
              </a:rPr>
              <a:t>Sesión 2</a:t>
            </a:r>
          </a:p>
        </p:txBody>
      </p:sp>
      <p:grpSp>
        <p:nvGrpSpPr>
          <p:cNvPr id="9" name="Grupo 8"/>
          <p:cNvGrpSpPr/>
          <p:nvPr/>
        </p:nvGrpSpPr>
        <p:grpSpPr>
          <a:xfrm>
            <a:off x="-9525" y="5135376"/>
            <a:ext cx="2033179" cy="1630683"/>
            <a:chOff x="0" y="5183001"/>
            <a:chExt cx="2033179" cy="1630683"/>
          </a:xfrm>
        </p:grpSpPr>
        <p:sp>
          <p:nvSpPr>
            <p:cNvPr id="7" name="Forma libre 6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4" name="Imagen 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8" name="Imagen 7"/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40768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>
                <a:latin typeface="Consolas" panose="020B0609020204030204" pitchFamily="49" charset="0"/>
              </a:rPr>
              <a:t>Recap</a:t>
            </a:r>
            <a:endParaRPr lang="es-MX" dirty="0">
              <a:latin typeface="Consolas" panose="020B0609020204030204" pitchFamily="49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092325"/>
            <a:ext cx="11087100" cy="4351338"/>
          </a:xfrm>
        </p:spPr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Primer flujo de trabajo</a:t>
            </a:r>
          </a:p>
          <a:p>
            <a:pPr lvl="1"/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Funciones de exploración inicial: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glimpse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(),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summary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(),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table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df$col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Operaciones con </a:t>
            </a:r>
            <a:r>
              <a:rPr lang="es-MX" dirty="0" err="1">
                <a:solidFill>
                  <a:schemeClr val="accent2"/>
                </a:solidFill>
                <a:latin typeface="Consolas" panose="020B0609020204030204" pitchFamily="49" charset="0"/>
              </a:rPr>
              <a:t>mutate</a:t>
            </a:r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(): 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concatenación, numéricas, condicionales (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ifelse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 y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case_when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())</a:t>
            </a:r>
          </a:p>
          <a:p>
            <a:pPr lvl="1"/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Uso estratégico de vectores</a:t>
            </a:r>
          </a:p>
          <a:p>
            <a:pPr lvl="1"/>
            <a:r>
              <a:rPr lang="es-MX" dirty="0">
                <a:solidFill>
                  <a:schemeClr val="accent2"/>
                </a:solidFill>
                <a:latin typeface="Consolas" panose="020B0609020204030204" pitchFamily="49" charset="0"/>
              </a:rPr>
              <a:t>Agrupaciones: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groupby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 </a:t>
            </a:r>
            <a:r>
              <a:rPr lang="es-MX" dirty="0" err="1">
                <a:solidFill>
                  <a:schemeClr val="accent1"/>
                </a:solidFill>
                <a:latin typeface="Consolas" panose="020B0609020204030204" pitchFamily="49" charset="0"/>
              </a:rPr>
              <a:t>summarize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()</a:t>
            </a:r>
          </a:p>
          <a:p>
            <a:pPr marL="457200" lvl="1" indent="0">
              <a:buNone/>
            </a:pPr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lvl="1"/>
            <a:r>
              <a:rPr lang="es-MX" b="1" dirty="0">
                <a:solidFill>
                  <a:schemeClr val="accent2"/>
                </a:solidFill>
                <a:latin typeface="Consolas" panose="020B0609020204030204" pitchFamily="49" charset="0"/>
              </a:rPr>
              <a:t>Diseño de pipeline y reproductibilidad</a:t>
            </a:r>
          </a:p>
          <a:p>
            <a:pPr lvl="2"/>
            <a:endParaRPr lang="es-MX" b="1" dirty="0">
              <a:solidFill>
                <a:schemeClr val="accent3"/>
              </a:solidFill>
            </a:endParaRPr>
          </a:p>
        </p:txBody>
      </p:sp>
      <p:grpSp>
        <p:nvGrpSpPr>
          <p:cNvPr id="8" name="Grupo 7"/>
          <p:cNvGrpSpPr/>
          <p:nvPr/>
        </p:nvGrpSpPr>
        <p:grpSpPr>
          <a:xfrm flipH="1">
            <a:off x="10158821" y="5144901"/>
            <a:ext cx="2033179" cy="1630683"/>
            <a:chOff x="0" y="5183001"/>
            <a:chExt cx="2033179" cy="1630683"/>
          </a:xfrm>
        </p:grpSpPr>
        <p:sp>
          <p:nvSpPr>
            <p:cNvPr id="9" name="Forma libre 8"/>
            <p:cNvSpPr/>
            <p:nvPr/>
          </p:nvSpPr>
          <p:spPr>
            <a:xfrm>
              <a:off x="1095676" y="5407025"/>
              <a:ext cx="818147" cy="991402"/>
            </a:xfrm>
            <a:custGeom>
              <a:avLst/>
              <a:gdLst>
                <a:gd name="connsiteX0" fmla="*/ 38501 w 818147"/>
                <a:gd name="connsiteY0" fmla="*/ 0 h 991402"/>
                <a:gd name="connsiteX1" fmla="*/ 818147 w 818147"/>
                <a:gd name="connsiteY1" fmla="*/ 375386 h 991402"/>
                <a:gd name="connsiteX2" fmla="*/ 818147 w 818147"/>
                <a:gd name="connsiteY2" fmla="*/ 991402 h 991402"/>
                <a:gd name="connsiteX3" fmla="*/ 442762 w 818147"/>
                <a:gd name="connsiteY3" fmla="*/ 789272 h 991402"/>
                <a:gd name="connsiteX4" fmla="*/ 375385 w 818147"/>
                <a:gd name="connsiteY4" fmla="*/ 760396 h 991402"/>
                <a:gd name="connsiteX5" fmla="*/ 0 w 818147"/>
                <a:gd name="connsiteY5" fmla="*/ 577516 h 991402"/>
                <a:gd name="connsiteX6" fmla="*/ 38501 w 818147"/>
                <a:gd name="connsiteY6" fmla="*/ 0 h 9914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8147" h="991402">
                  <a:moveTo>
                    <a:pt x="38501" y="0"/>
                  </a:moveTo>
                  <a:lnTo>
                    <a:pt x="818147" y="375386"/>
                  </a:lnTo>
                  <a:lnTo>
                    <a:pt x="818147" y="991402"/>
                  </a:lnTo>
                  <a:lnTo>
                    <a:pt x="442762" y="789272"/>
                  </a:lnTo>
                  <a:lnTo>
                    <a:pt x="375385" y="760396"/>
                  </a:lnTo>
                  <a:lnTo>
                    <a:pt x="0" y="577516"/>
                  </a:lnTo>
                  <a:lnTo>
                    <a:pt x="38501" y="0"/>
                  </a:lnTo>
                  <a:close/>
                </a:path>
              </a:pathLst>
            </a:custGeom>
            <a:solidFill>
              <a:schemeClr val="accent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pic>
          <p:nvPicPr>
            <p:cNvPr id="10" name="Imagen 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799" y="5183001"/>
              <a:ext cx="1865380" cy="1630683"/>
            </a:xfrm>
            <a:prstGeom prst="rect">
              <a:avLst/>
            </a:prstGeom>
          </p:spPr>
        </p:pic>
        <p:pic>
          <p:nvPicPr>
            <p:cNvPr id="11" name="Imagen 10"/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908"/>
            <a:stretch/>
          </p:blipFill>
          <p:spPr>
            <a:xfrm>
              <a:off x="0" y="5554095"/>
              <a:ext cx="1932873" cy="850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370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38D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Objetivos del día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514475"/>
            <a:ext cx="10229850" cy="5172075"/>
          </a:xfrm>
        </p:spPr>
        <p:txBody>
          <a:bodyPr numCol="2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s-MX" sz="2000" b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Recap</a:t>
            </a:r>
            <a:endParaRPr lang="es-MX" sz="2000" b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 err="1">
                <a:latin typeface="Consolas" panose="020B0609020204030204" pitchFamily="49" charset="0"/>
              </a:rPr>
              <a:t>Mutate</a:t>
            </a:r>
            <a:r>
              <a:rPr lang="es-MX" sz="1800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sz="1800" dirty="0" err="1">
                <a:latin typeface="Consolas" panose="020B0609020204030204" pitchFamily="49" charset="0"/>
              </a:rPr>
              <a:t>Ifelse</a:t>
            </a:r>
            <a:r>
              <a:rPr lang="es-MX" sz="1800" dirty="0">
                <a:latin typeface="Consolas" panose="020B0609020204030204" pitchFamily="49" charset="0"/>
              </a:rPr>
              <a:t>()</a:t>
            </a:r>
          </a:p>
          <a:p>
            <a:pPr lvl="1"/>
            <a:r>
              <a:rPr lang="es-MX" sz="1800" dirty="0" err="1">
                <a:latin typeface="Consolas" panose="020B0609020204030204" pitchFamily="49" charset="0"/>
              </a:rPr>
              <a:t>Groupby</a:t>
            </a:r>
            <a:r>
              <a:rPr lang="es-MX" sz="1800" dirty="0">
                <a:latin typeface="Consolas" panose="020B0609020204030204" pitchFamily="49" charset="0"/>
              </a:rPr>
              <a:t>()+</a:t>
            </a:r>
            <a:r>
              <a:rPr lang="es-MX" sz="1800" dirty="0" err="1">
                <a:latin typeface="Consolas" panose="020B0609020204030204" pitchFamily="49" charset="0"/>
              </a:rPr>
              <a:t>Summarize</a:t>
            </a:r>
            <a:r>
              <a:rPr lang="es-MX" sz="1800" dirty="0">
                <a:latin typeface="Consolas" panose="020B0609020204030204" pitchFamily="49" charset="0"/>
              </a:rPr>
              <a:t>()</a:t>
            </a:r>
          </a:p>
          <a:p>
            <a:pPr lvl="1"/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Pivots</a:t>
            </a:r>
            <a:endParaRPr lang="es-MX" sz="20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Wide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Long</a:t>
            </a:r>
          </a:p>
          <a:p>
            <a:pPr lvl="1"/>
            <a:r>
              <a:rPr lang="es-MX" sz="1800" dirty="0" err="1">
                <a:latin typeface="Consolas" panose="020B0609020204030204" pitchFamily="49" charset="0"/>
              </a:rPr>
              <a:t>Tidy</a:t>
            </a:r>
            <a:endParaRPr lang="es-MX" sz="1800" dirty="0">
              <a:latin typeface="Consolas" panose="020B0609020204030204" pitchFamily="49" charset="0"/>
            </a:endParaRPr>
          </a:p>
          <a:p>
            <a:pPr lvl="1"/>
            <a:endParaRPr lang="es-MX" sz="1800" dirty="0">
              <a:latin typeface="Consolas" panose="020B0609020204030204" pitchFamily="49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s-MX" sz="2000" b="1" i="1" dirty="0" err="1">
                <a:solidFill>
                  <a:schemeClr val="accent2"/>
                </a:solidFill>
                <a:latin typeface="Consolas" panose="020B0609020204030204" pitchFamily="49" charset="0"/>
              </a:rPr>
              <a:t>Joins</a:t>
            </a:r>
            <a:endParaRPr lang="es-MX" sz="2000" b="1" i="1" dirty="0">
              <a:solidFill>
                <a:schemeClr val="accent2"/>
              </a:solidFill>
              <a:latin typeface="Consolas" panose="020B0609020204030204" pitchFamily="49" charset="0"/>
            </a:endParaRP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Tipos de unión</a:t>
            </a:r>
          </a:p>
          <a:p>
            <a:pPr lvl="1"/>
            <a:r>
              <a:rPr lang="es-MX" sz="1800" dirty="0">
                <a:latin typeface="Consolas" panose="020B0609020204030204" pitchFamily="49" charset="0"/>
              </a:rPr>
              <a:t>Preparación de datos (formato </a:t>
            </a:r>
            <a:r>
              <a:rPr lang="es-MX" sz="1800" dirty="0" err="1">
                <a:latin typeface="Consolas" panose="020B0609020204030204" pitchFamily="49" charset="0"/>
              </a:rPr>
              <a:t>wide</a:t>
            </a:r>
            <a:r>
              <a:rPr lang="es-MX" sz="1800" dirty="0">
                <a:latin typeface="Consolas" panose="020B0609020204030204" pitchFamily="49" charset="0"/>
              </a:rPr>
              <a:t> vs. Long) </a:t>
            </a:r>
          </a:p>
          <a:p>
            <a:pPr lvl="1"/>
            <a:r>
              <a:rPr lang="es-MX" sz="1800" dirty="0" err="1">
                <a:latin typeface="Consolas" panose="020B0609020204030204" pitchFamily="49" charset="0"/>
              </a:rPr>
              <a:t>Left_join</a:t>
            </a:r>
            <a:r>
              <a:rPr lang="es-MX" sz="1800" dirty="0">
                <a:latin typeface="Consolas" panose="020B0609020204030204" pitchFamily="49" charset="0"/>
              </a:rPr>
              <a:t>(), </a:t>
            </a:r>
            <a:r>
              <a:rPr lang="es-MX" sz="1800" dirty="0" err="1">
                <a:latin typeface="Consolas" panose="020B0609020204030204" pitchFamily="49" charset="0"/>
              </a:rPr>
              <a:t>full_join</a:t>
            </a:r>
            <a:r>
              <a:rPr lang="es-MX" sz="1800" dirty="0">
                <a:latin typeface="Consolas" panose="020B0609020204030204" pitchFamily="49" charset="0"/>
              </a:rPr>
              <a:t>(), </a:t>
            </a:r>
            <a:r>
              <a:rPr lang="es-MX" sz="1800" dirty="0" err="1">
                <a:latin typeface="Consolas" panose="020B0609020204030204" pitchFamily="49" charset="0"/>
              </a:rPr>
              <a:t>anti_join</a:t>
            </a:r>
            <a:r>
              <a:rPr lang="es-MX" sz="1800" dirty="0">
                <a:latin typeface="Consolas" panose="020B0609020204030204" pitchFamily="49" charset="0"/>
              </a:rPr>
              <a:t>()</a:t>
            </a:r>
          </a:p>
          <a:p>
            <a:pPr marL="514350" indent="-514350">
              <a:buFont typeface="+mj-lt"/>
              <a:buAutoNum type="arabicPeriod"/>
            </a:pPr>
            <a:endParaRPr lang="es-MX" sz="1600" dirty="0">
              <a:solidFill>
                <a:schemeClr val="accent2"/>
              </a:solidFill>
            </a:endParaRPr>
          </a:p>
          <a:p>
            <a:pPr marL="514350" indent="-514350">
              <a:buFont typeface="+mj-lt"/>
              <a:buAutoNum type="arabicPeriod"/>
            </a:pP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28" b="31536"/>
          <a:stretch/>
        </p:blipFill>
        <p:spPr>
          <a:xfrm rot="191927" flipH="1">
            <a:off x="8639174" y="3370954"/>
            <a:ext cx="3304033" cy="3639445"/>
          </a:xfrm>
          <a:prstGeom prst="rtTriangle">
            <a:avLst/>
          </a:prstGeom>
        </p:spPr>
      </p:pic>
      <p:sp>
        <p:nvSpPr>
          <p:cNvPr id="5" name="CuadroTexto 4"/>
          <p:cNvSpPr txBox="1"/>
          <p:nvPr/>
        </p:nvSpPr>
        <p:spPr>
          <a:xfrm>
            <a:off x="6443090" y="1927205"/>
            <a:ext cx="3848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Al final de la sesión, tendrás una base sólida para aplicar operadores </a:t>
            </a:r>
            <a:r>
              <a:rPr lang="es-MX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dplyr</a:t>
            </a:r>
            <a:r>
              <a:rPr lang="es-MX" i="1" dirty="0">
                <a:solidFill>
                  <a:schemeClr val="accent1"/>
                </a:solidFill>
                <a:latin typeface="Consolas" panose="020B0609020204030204" pitchFamily="49" charset="0"/>
              </a:rPr>
              <a:t> </a:t>
            </a:r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integrando múltiples fuentes de datos. </a:t>
            </a:r>
          </a:p>
          <a:p>
            <a:endParaRPr lang="es-MX" i="1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Verás un caso práctico con in flujo de datos de inicio a fin.</a:t>
            </a:r>
          </a:p>
          <a:p>
            <a:endParaRPr lang="es-MX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s-MX" dirty="0">
                <a:solidFill>
                  <a:schemeClr val="accent1"/>
                </a:solidFill>
                <a:latin typeface="Consolas" panose="020B0609020204030204" pitchFamily="49" charset="0"/>
              </a:rPr>
              <a:t>BONUS: Principios de automatización</a:t>
            </a:r>
          </a:p>
        </p:txBody>
      </p:sp>
    </p:spTree>
    <p:extLst>
      <p:ext uri="{BB962C8B-B14F-4D97-AF65-F5344CB8AC3E}">
        <p14:creationId xmlns:p14="http://schemas.microsoft.com/office/powerpoint/2010/main" val="861512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E05F-8E83-BBB4-A381-2A742A868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570" y="457200"/>
            <a:ext cx="3932237" cy="1600200"/>
          </a:xfrm>
        </p:spPr>
        <p:txBody>
          <a:bodyPr/>
          <a:lstStyle/>
          <a:p>
            <a:r>
              <a:rPr lang="es-MX" dirty="0">
                <a:latin typeface="Consolas" panose="020B0609020204030204" pitchFamily="49" charset="0"/>
              </a:rPr>
              <a:t>Unión de bases de datos</a:t>
            </a:r>
            <a:endParaRPr lang="en-US" dirty="0"/>
          </a:p>
        </p:txBody>
      </p:sp>
      <p:pic>
        <p:nvPicPr>
          <p:cNvPr id="6" name="Picture Placeholder 5" descr="A group of circles with text&#10;&#10;AI-generated content may be incorrect.">
            <a:extLst>
              <a:ext uri="{FF2B5EF4-FFF2-40B4-BE49-F238E27FC236}">
                <a16:creationId xmlns:a16="http://schemas.microsoft.com/office/drawing/2014/main" id="{ACADD1BD-B93D-F99E-3944-EE2B1F7F6A8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27" b="3462"/>
          <a:stretch>
            <a:fillRect/>
          </a:stretch>
        </p:blipFill>
        <p:spPr>
          <a:xfrm>
            <a:off x="6096000" y="837081"/>
            <a:ext cx="4828913" cy="5501292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49E75-95E0-382E-CBD0-DB668CB248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1524" y="2207871"/>
            <a:ext cx="5549437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Los </a:t>
            </a:r>
            <a:r>
              <a:rPr lang="es-ES" dirty="0" err="1">
                <a:latin typeface="Consolas" panose="020B0609020204030204" pitchFamily="49" charset="0"/>
              </a:rPr>
              <a:t>joins</a:t>
            </a:r>
            <a:r>
              <a:rPr lang="es-ES" dirty="0">
                <a:latin typeface="Consolas" panose="020B0609020204030204" pitchFamily="49" charset="0"/>
              </a:rPr>
              <a:t> permiten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combinar</a:t>
            </a:r>
            <a:r>
              <a:rPr lang="es-ES" dirty="0">
                <a:latin typeface="Consolas" panose="020B0609020204030204" pitchFamily="49" charset="0"/>
              </a:rPr>
              <a:t> tablas usando una o más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columnas clave</a:t>
            </a:r>
            <a:r>
              <a:rPr lang="es-ES" dirty="0">
                <a:latin typeface="Consolas" panose="020B0609020204030204" pitchFamily="49" charset="0"/>
              </a:rPr>
              <a:t>, integrando información de distintas fuentes.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Las columnas clave deben identificar de manera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única</a:t>
            </a:r>
            <a:r>
              <a:rPr lang="es-ES" dirty="0">
                <a:latin typeface="Consolas" panose="020B0609020204030204" pitchFamily="49" charset="0"/>
              </a:rPr>
              <a:t> los registros; errores de coincidencia pueden generar duplicados o pérdidas de información.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Verifica que tipos de datos y nombres de columnas clave sean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consistentes</a:t>
            </a:r>
            <a:r>
              <a:rPr lang="es-ES" dirty="0">
                <a:latin typeface="Consolas" panose="020B0609020204030204" pitchFamily="49" charset="0"/>
              </a:rPr>
              <a:t> para evitar errores de unión.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Consolas" panose="020B0609020204030204" pitchFamily="49" charset="0"/>
              </a:rPr>
              <a:t>Usar </a:t>
            </a:r>
            <a:r>
              <a:rPr lang="es-ES" dirty="0" err="1">
                <a:latin typeface="Consolas" panose="020B0609020204030204" pitchFamily="49" charset="0"/>
              </a:rPr>
              <a:t>joins</a:t>
            </a:r>
            <a:r>
              <a:rPr lang="es-ES" dirty="0">
                <a:latin typeface="Consolas" panose="020B0609020204030204" pitchFamily="49" charset="0"/>
              </a:rPr>
              <a:t> estratégicamente permite </a:t>
            </a:r>
            <a:r>
              <a:rPr lang="es-ES" b="1" dirty="0">
                <a:solidFill>
                  <a:schemeClr val="accent2"/>
                </a:solidFill>
                <a:latin typeface="Consolas" panose="020B0609020204030204" pitchFamily="49" charset="0"/>
              </a:rPr>
              <a:t>enriquecer</a:t>
            </a:r>
            <a:r>
              <a:rPr lang="es-ES" dirty="0">
                <a:latin typeface="Consolas" panose="020B0609020204030204" pitchFamily="49" charset="0"/>
              </a:rPr>
              <a:t> datos, calcular métricas combinadas y preparar </a:t>
            </a:r>
            <a:r>
              <a:rPr lang="es-ES" dirty="0" err="1">
                <a:latin typeface="Consolas" panose="020B0609020204030204" pitchFamily="49" charset="0"/>
              </a:rPr>
              <a:t>datasets</a:t>
            </a:r>
            <a:r>
              <a:rPr lang="es-ES" dirty="0">
                <a:latin typeface="Consolas" panose="020B0609020204030204" pitchFamily="49" charset="0"/>
              </a:rPr>
              <a:t> para análisis más complejos.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013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C05E1A-97B2-542D-E222-82196C4A2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s-MX" sz="5400" dirty="0">
                <a:latin typeface="Consolas" panose="020B0609020204030204" pitchFamily="49" charset="0"/>
              </a:rPr>
              <a:t>Formatos </a:t>
            </a:r>
            <a:r>
              <a:rPr lang="es-MX" sz="5400" i="1" dirty="0" err="1">
                <a:latin typeface="Consolas" panose="020B0609020204030204" pitchFamily="49" charset="0"/>
              </a:rPr>
              <a:t>wide</a:t>
            </a:r>
            <a:r>
              <a:rPr lang="es-MX" sz="5400" i="1" dirty="0">
                <a:latin typeface="Consolas" panose="020B0609020204030204" pitchFamily="49" charset="0"/>
              </a:rPr>
              <a:t> </a:t>
            </a:r>
            <a:r>
              <a:rPr lang="es-MX" sz="5400" dirty="0">
                <a:latin typeface="Consolas" panose="020B0609020204030204" pitchFamily="49" charset="0"/>
              </a:rPr>
              <a:t>vs. </a:t>
            </a:r>
            <a:r>
              <a:rPr lang="es-MX" sz="5400" i="1" dirty="0" err="1">
                <a:latin typeface="Consolas" panose="020B0609020204030204" pitchFamily="49" charset="0"/>
              </a:rPr>
              <a:t>long</a:t>
            </a:r>
            <a:endParaRPr lang="en-US" sz="5400" i="1" dirty="0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C32784-1EA8-EA53-7DAA-A383B87E4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Formato </a:t>
            </a:r>
            <a:r>
              <a:rPr lang="es-MX" sz="1700" b="1" i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wide</a:t>
            </a:r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s-MX" sz="1700" dirty="0">
                <a:latin typeface="Consolas" panose="020B0609020204030204" pitchFamily="49" charset="0"/>
              </a:rPr>
              <a:t>Cada variable es una columna; cada fila es una unidad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Ideal para reportes y uso visual (Excel)</a:t>
            </a:r>
          </a:p>
          <a:p>
            <a:pPr lvl="1"/>
            <a:r>
              <a:rPr lang="es-MX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Limite: 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Difícil de analizar y graficar a gran escala (demasiadas variables)</a:t>
            </a:r>
          </a:p>
          <a:p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Formato </a:t>
            </a:r>
            <a:r>
              <a:rPr lang="es-MX" sz="1700" b="1" dirty="0" err="1">
                <a:solidFill>
                  <a:schemeClr val="accent1"/>
                </a:solidFill>
                <a:latin typeface="Consolas" panose="020B0609020204030204" pitchFamily="49" charset="0"/>
              </a:rPr>
              <a:t>long</a:t>
            </a:r>
            <a:r>
              <a:rPr lang="es-MX" sz="1700" b="1" dirty="0">
                <a:solidFill>
                  <a:schemeClr val="accent1"/>
                </a:solidFill>
                <a:latin typeface="Consolas" panose="020B0609020204030204" pitchFamily="49" charset="0"/>
              </a:rPr>
              <a:t>: </a:t>
            </a:r>
            <a:r>
              <a:rPr lang="es-MX" sz="1700" dirty="0">
                <a:latin typeface="Consolas" panose="020B0609020204030204" pitchFamily="49" charset="0"/>
              </a:rPr>
              <a:t>cada observación tiene una fila por cada valor de variable repetida 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Más fácil de filtrar y agrupar</a:t>
            </a:r>
          </a:p>
          <a:p>
            <a:pPr lvl="1"/>
            <a:r>
              <a:rPr lang="es-MX" sz="1700" dirty="0">
                <a:latin typeface="Consolas" panose="020B0609020204030204" pitchFamily="49" charset="0"/>
              </a:rPr>
              <a:t>Eficiencia computacional. Compatibilidad con funciones de </a:t>
            </a:r>
            <a:r>
              <a:rPr lang="es-MX" sz="1700" i="1" dirty="0" err="1">
                <a:latin typeface="Consolas" panose="020B0609020204030204" pitchFamily="49" charset="0"/>
              </a:rPr>
              <a:t>tidyverse</a:t>
            </a:r>
            <a:endParaRPr lang="es-MX" sz="1700" i="1" dirty="0">
              <a:latin typeface="Consolas" panose="020B0609020204030204" pitchFamily="49" charset="0"/>
            </a:endParaRPr>
          </a:p>
          <a:p>
            <a:pPr lvl="1"/>
            <a:r>
              <a:rPr lang="es-MX" sz="1700" b="1" dirty="0">
                <a:solidFill>
                  <a:schemeClr val="accent2"/>
                </a:solidFill>
                <a:latin typeface="Consolas" panose="020B0609020204030204" pitchFamily="49" charset="0"/>
              </a:rPr>
              <a:t>Limite: 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Menos intuitivo para lectura rápida. Problemas de compatibilidad (Excel, </a:t>
            </a:r>
            <a:r>
              <a:rPr lang="es-MX" sz="1700" dirty="0" err="1">
                <a:solidFill>
                  <a:schemeClr val="accent2"/>
                </a:solidFill>
                <a:latin typeface="Consolas" panose="020B0609020204030204" pitchFamily="49" charset="0"/>
              </a:rPr>
              <a:t>PowerBi</a:t>
            </a:r>
            <a:r>
              <a:rPr lang="es-MX" sz="1700" dirty="0">
                <a:solidFill>
                  <a:schemeClr val="accent2"/>
                </a:solidFill>
                <a:latin typeface="Consolas" panose="020B0609020204030204" pitchFamily="49" charset="0"/>
              </a:rPr>
              <a:t>)</a:t>
            </a:r>
          </a:p>
          <a:p>
            <a:pPr lvl="1"/>
            <a:endParaRPr lang="es-MX" sz="1700" dirty="0"/>
          </a:p>
          <a:p>
            <a:endParaRPr lang="en-US" sz="1700" dirty="0"/>
          </a:p>
        </p:txBody>
      </p:sp>
      <p:pic>
        <p:nvPicPr>
          <p:cNvPr id="5" name="Picture 4" descr="A screenshot of a graph&#10;&#10;AI-generated content may be incorrect.">
            <a:extLst>
              <a:ext uri="{FF2B5EF4-FFF2-40B4-BE49-F238E27FC236}">
                <a16:creationId xmlns:a16="http://schemas.microsoft.com/office/drawing/2014/main" id="{D3901D29-84B7-0108-E4BE-32794C5C1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5694" y="2888356"/>
            <a:ext cx="2395533" cy="3429969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9D3BE9A4-B698-02D1-5A0B-45550540B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0047" y="539675"/>
            <a:ext cx="3995928" cy="1807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391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e Office">
  <a:themeElements>
    <a:clrScheme name="Paleta_Mafer">
      <a:dk1>
        <a:srgbClr val="F2F2F2"/>
      </a:dk1>
      <a:lt1>
        <a:srgbClr val="3F3F3F"/>
      </a:lt1>
      <a:dk2>
        <a:srgbClr val="7F7F7F"/>
      </a:dk2>
      <a:lt2>
        <a:srgbClr val="E7E6E6"/>
      </a:lt2>
      <a:accent1>
        <a:srgbClr val="FFF79D"/>
      </a:accent1>
      <a:accent2>
        <a:srgbClr val="FF9A95"/>
      </a:accent2>
      <a:accent3>
        <a:srgbClr val="A78EC8"/>
      </a:accent3>
      <a:accent4>
        <a:srgbClr val="2EBCEE"/>
      </a:accent4>
      <a:accent5>
        <a:srgbClr val="4472C4"/>
      </a:accent5>
      <a:accent6>
        <a:srgbClr val="EBDAE2"/>
      </a:accent6>
      <a:hlink>
        <a:srgbClr val="C5E0B3"/>
      </a:hlink>
      <a:folHlink>
        <a:srgbClr val="FEE599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491</TotalTime>
  <Words>304</Words>
  <Application>Microsoft Office PowerPoint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Consolas</vt:lpstr>
      <vt:lpstr>Tema de Office</vt:lpstr>
      <vt:lpstr>Introducción a R</vt:lpstr>
      <vt:lpstr>Recap</vt:lpstr>
      <vt:lpstr>Objetivos del día</vt:lpstr>
      <vt:lpstr>Unión de bases de datos</vt:lpstr>
      <vt:lpstr>Formatos wide vs. long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 R</dc:title>
  <dc:creator>user</dc:creator>
  <cp:lastModifiedBy>Abel Vicencio</cp:lastModifiedBy>
  <cp:revision>32</cp:revision>
  <dcterms:created xsi:type="dcterms:W3CDTF">2025-12-13T08:20:06Z</dcterms:created>
  <dcterms:modified xsi:type="dcterms:W3CDTF">2026-03-22T08:37:30Z</dcterms:modified>
</cp:coreProperties>
</file>