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3" r:id="rId5"/>
    <p:sldId id="258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7AE4BA-2508-47D9-AAF0-FACC4B21E93D}" v="56" dt="2026-02-28T16:49:32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CA1C7D-752A-4584-8D3F-A04D2BAD6058}" type="doc">
      <dgm:prSet loTypeId="urn:microsoft.com/office/officeart/2005/8/layout/venn1" loCatId="relationship" qsTypeId="urn:microsoft.com/office/officeart/2005/8/quickstyle/simple1" qsCatId="simple" csTypeId="urn:microsoft.com/office/officeart/2005/8/colors/colorful2" csCatId="colorful" phldr="1"/>
      <dgm:spPr/>
    </dgm:pt>
    <dgm:pt modelId="{CA32C9C6-FA48-4236-A80F-783DC7FDF937}">
      <dgm:prSet phldrT="[Texto]" custT="1"/>
      <dgm:spPr/>
      <dgm:t>
        <a:bodyPr/>
        <a:lstStyle/>
        <a:p>
          <a:r>
            <a:rPr lang="es-MX" sz="1800" dirty="0">
              <a:latin typeface="Consolas" panose="020B0609020204030204" pitchFamily="49" charset="0"/>
            </a:rPr>
            <a:t>Automatización / Reproductibilidad</a:t>
          </a:r>
        </a:p>
      </dgm:t>
    </dgm:pt>
    <dgm:pt modelId="{9D64A77D-8FF6-42F4-ACAE-C80E3CE36165}" type="parTrans" cxnId="{3C5CD44F-F6B1-42BB-9241-D65B3CD83E6C}">
      <dgm:prSet/>
      <dgm:spPr/>
      <dgm:t>
        <a:bodyPr/>
        <a:lstStyle/>
        <a:p>
          <a:endParaRPr lang="es-MX"/>
        </a:p>
      </dgm:t>
    </dgm:pt>
    <dgm:pt modelId="{5ABE2C0B-2D0C-41B0-99FE-A922040AD1F0}" type="sibTrans" cxnId="{3C5CD44F-F6B1-42BB-9241-D65B3CD83E6C}">
      <dgm:prSet/>
      <dgm:spPr/>
      <dgm:t>
        <a:bodyPr/>
        <a:lstStyle/>
        <a:p>
          <a:endParaRPr lang="es-MX"/>
        </a:p>
      </dgm:t>
    </dgm:pt>
    <dgm:pt modelId="{BEA50DBE-F3CA-4A6E-8498-EBB4A3D5D2DF}">
      <dgm:prSet phldrT="[Texto]" custT="1"/>
      <dgm:spPr/>
      <dgm:t>
        <a:bodyPr/>
        <a:lstStyle/>
        <a:p>
          <a:r>
            <a:rPr lang="es-MX" sz="1800" dirty="0">
              <a:latin typeface="Consolas" panose="020B0609020204030204" pitchFamily="49" charset="0"/>
            </a:rPr>
            <a:t>Manipulación / Limpieza de datos</a:t>
          </a:r>
        </a:p>
      </dgm:t>
    </dgm:pt>
    <dgm:pt modelId="{B2D3EE0F-5012-4B43-8815-EF93503AAAED}" type="parTrans" cxnId="{AD6A7CDF-86B6-4223-B236-F2DC08E5B05A}">
      <dgm:prSet/>
      <dgm:spPr/>
      <dgm:t>
        <a:bodyPr/>
        <a:lstStyle/>
        <a:p>
          <a:endParaRPr lang="es-MX"/>
        </a:p>
      </dgm:t>
    </dgm:pt>
    <dgm:pt modelId="{D392F1ED-1AEA-4EA3-9F2E-910E8E50C06B}" type="sibTrans" cxnId="{AD6A7CDF-86B6-4223-B236-F2DC08E5B05A}">
      <dgm:prSet/>
      <dgm:spPr/>
      <dgm:t>
        <a:bodyPr/>
        <a:lstStyle/>
        <a:p>
          <a:endParaRPr lang="es-MX"/>
        </a:p>
      </dgm:t>
    </dgm:pt>
    <dgm:pt modelId="{EF70572B-9E37-4E17-89B2-3827133715AA}">
      <dgm:prSet phldrT="[Texto]" custT="1"/>
      <dgm:spPr/>
      <dgm:t>
        <a:bodyPr/>
        <a:lstStyle/>
        <a:p>
          <a:r>
            <a:rPr lang="es-MX" sz="1800" dirty="0">
              <a:latin typeface="Consolas" panose="020B0609020204030204" pitchFamily="49" charset="0"/>
            </a:rPr>
            <a:t>Estadística / Análisis avanzado</a:t>
          </a:r>
        </a:p>
      </dgm:t>
    </dgm:pt>
    <dgm:pt modelId="{FA2DD8B4-ED96-4160-81A5-E70B7316E70E}" type="parTrans" cxnId="{A9C7E0EB-260C-4D54-917A-4D1448CE72EA}">
      <dgm:prSet/>
      <dgm:spPr/>
      <dgm:t>
        <a:bodyPr/>
        <a:lstStyle/>
        <a:p>
          <a:endParaRPr lang="es-MX"/>
        </a:p>
      </dgm:t>
    </dgm:pt>
    <dgm:pt modelId="{F0AE77E0-A5ED-491F-A8CC-E6816EBBBB3E}" type="sibTrans" cxnId="{A9C7E0EB-260C-4D54-917A-4D1448CE72EA}">
      <dgm:prSet/>
      <dgm:spPr/>
      <dgm:t>
        <a:bodyPr/>
        <a:lstStyle/>
        <a:p>
          <a:endParaRPr lang="es-MX"/>
        </a:p>
      </dgm:t>
    </dgm:pt>
    <dgm:pt modelId="{B5286C5D-BC51-420B-B77D-3BD5AAE62ACD}" type="pres">
      <dgm:prSet presAssocID="{C1CA1C7D-752A-4584-8D3F-A04D2BAD6058}" presName="compositeShape" presStyleCnt="0">
        <dgm:presLayoutVars>
          <dgm:chMax val="7"/>
          <dgm:dir/>
          <dgm:resizeHandles val="exact"/>
        </dgm:presLayoutVars>
      </dgm:prSet>
      <dgm:spPr/>
    </dgm:pt>
    <dgm:pt modelId="{AD2C61C3-E581-48B5-A675-2D02620D6F3C}" type="pres">
      <dgm:prSet presAssocID="{CA32C9C6-FA48-4236-A80F-783DC7FDF937}" presName="circ1" presStyleLbl="vennNode1" presStyleIdx="0" presStyleCnt="3"/>
      <dgm:spPr/>
      <dgm:t>
        <a:bodyPr/>
        <a:lstStyle/>
        <a:p>
          <a:endParaRPr lang="es-MX"/>
        </a:p>
      </dgm:t>
    </dgm:pt>
    <dgm:pt modelId="{D479A919-B692-4CF8-8D15-1A6432AE1878}" type="pres">
      <dgm:prSet presAssocID="{CA32C9C6-FA48-4236-A80F-783DC7FDF93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B1088B7-8387-4B1D-8D94-3E44F0F7F97D}" type="pres">
      <dgm:prSet presAssocID="{BEA50DBE-F3CA-4A6E-8498-EBB4A3D5D2DF}" presName="circ2" presStyleLbl="vennNode1" presStyleIdx="1" presStyleCnt="3"/>
      <dgm:spPr/>
      <dgm:t>
        <a:bodyPr/>
        <a:lstStyle/>
        <a:p>
          <a:endParaRPr lang="es-MX"/>
        </a:p>
      </dgm:t>
    </dgm:pt>
    <dgm:pt modelId="{25D2EDD9-D718-4E98-8970-530B744AA90F}" type="pres">
      <dgm:prSet presAssocID="{BEA50DBE-F3CA-4A6E-8498-EBB4A3D5D2D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358DF6E2-B241-42B8-B077-196CABEA0657}" type="pres">
      <dgm:prSet presAssocID="{EF70572B-9E37-4E17-89B2-3827133715AA}" presName="circ3" presStyleLbl="vennNode1" presStyleIdx="2" presStyleCnt="3"/>
      <dgm:spPr/>
      <dgm:t>
        <a:bodyPr/>
        <a:lstStyle/>
        <a:p>
          <a:endParaRPr lang="es-MX"/>
        </a:p>
      </dgm:t>
    </dgm:pt>
    <dgm:pt modelId="{84B3E876-3915-4A3E-AFD5-7048DA0662BD}" type="pres">
      <dgm:prSet presAssocID="{EF70572B-9E37-4E17-89B2-3827133715AA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AD6A7CDF-86B6-4223-B236-F2DC08E5B05A}" srcId="{C1CA1C7D-752A-4584-8D3F-A04D2BAD6058}" destId="{BEA50DBE-F3CA-4A6E-8498-EBB4A3D5D2DF}" srcOrd="1" destOrd="0" parTransId="{B2D3EE0F-5012-4B43-8815-EF93503AAAED}" sibTransId="{D392F1ED-1AEA-4EA3-9F2E-910E8E50C06B}"/>
    <dgm:cxn modelId="{6BF580DE-6A22-417E-B5F1-E0632889256A}" type="presOf" srcId="{BEA50DBE-F3CA-4A6E-8498-EBB4A3D5D2DF}" destId="{7B1088B7-8387-4B1D-8D94-3E44F0F7F97D}" srcOrd="0" destOrd="0" presId="urn:microsoft.com/office/officeart/2005/8/layout/venn1"/>
    <dgm:cxn modelId="{A9C7E0EB-260C-4D54-917A-4D1448CE72EA}" srcId="{C1CA1C7D-752A-4584-8D3F-A04D2BAD6058}" destId="{EF70572B-9E37-4E17-89B2-3827133715AA}" srcOrd="2" destOrd="0" parTransId="{FA2DD8B4-ED96-4160-81A5-E70B7316E70E}" sibTransId="{F0AE77E0-A5ED-491F-A8CC-E6816EBBBB3E}"/>
    <dgm:cxn modelId="{F564B6D3-487F-429A-9E81-5B1017821752}" type="presOf" srcId="{CA32C9C6-FA48-4236-A80F-783DC7FDF937}" destId="{D479A919-B692-4CF8-8D15-1A6432AE1878}" srcOrd="1" destOrd="0" presId="urn:microsoft.com/office/officeart/2005/8/layout/venn1"/>
    <dgm:cxn modelId="{AF164808-B56F-4885-BCCB-77EF509F0D89}" type="presOf" srcId="{EF70572B-9E37-4E17-89B2-3827133715AA}" destId="{84B3E876-3915-4A3E-AFD5-7048DA0662BD}" srcOrd="1" destOrd="0" presId="urn:microsoft.com/office/officeart/2005/8/layout/venn1"/>
    <dgm:cxn modelId="{6AD9FFCC-7644-4F95-B62D-0DD5261448EF}" type="presOf" srcId="{BEA50DBE-F3CA-4A6E-8498-EBB4A3D5D2DF}" destId="{25D2EDD9-D718-4E98-8970-530B744AA90F}" srcOrd="1" destOrd="0" presId="urn:microsoft.com/office/officeart/2005/8/layout/venn1"/>
    <dgm:cxn modelId="{3C5CD44F-F6B1-42BB-9241-D65B3CD83E6C}" srcId="{C1CA1C7D-752A-4584-8D3F-A04D2BAD6058}" destId="{CA32C9C6-FA48-4236-A80F-783DC7FDF937}" srcOrd="0" destOrd="0" parTransId="{9D64A77D-8FF6-42F4-ACAE-C80E3CE36165}" sibTransId="{5ABE2C0B-2D0C-41B0-99FE-A922040AD1F0}"/>
    <dgm:cxn modelId="{46B011A8-E6FD-43F6-A3B6-CE5B7751296D}" type="presOf" srcId="{EF70572B-9E37-4E17-89B2-3827133715AA}" destId="{358DF6E2-B241-42B8-B077-196CABEA0657}" srcOrd="0" destOrd="0" presId="urn:microsoft.com/office/officeart/2005/8/layout/venn1"/>
    <dgm:cxn modelId="{339B1AA2-600D-4D72-8BDE-84E97EC385A2}" type="presOf" srcId="{C1CA1C7D-752A-4584-8D3F-A04D2BAD6058}" destId="{B5286C5D-BC51-420B-B77D-3BD5AAE62ACD}" srcOrd="0" destOrd="0" presId="urn:microsoft.com/office/officeart/2005/8/layout/venn1"/>
    <dgm:cxn modelId="{F4D0BD6C-A918-42B0-A659-FC2BA4FCEACD}" type="presOf" srcId="{CA32C9C6-FA48-4236-A80F-783DC7FDF937}" destId="{AD2C61C3-E581-48B5-A675-2D02620D6F3C}" srcOrd="0" destOrd="0" presId="urn:microsoft.com/office/officeart/2005/8/layout/venn1"/>
    <dgm:cxn modelId="{7CFB5B13-7E2B-4BFE-97B7-C6C3944B32CE}" type="presParOf" srcId="{B5286C5D-BC51-420B-B77D-3BD5AAE62ACD}" destId="{AD2C61C3-E581-48B5-A675-2D02620D6F3C}" srcOrd="0" destOrd="0" presId="urn:microsoft.com/office/officeart/2005/8/layout/venn1"/>
    <dgm:cxn modelId="{EA3B0CBB-F53B-48E5-8432-3A00D2E85113}" type="presParOf" srcId="{B5286C5D-BC51-420B-B77D-3BD5AAE62ACD}" destId="{D479A919-B692-4CF8-8D15-1A6432AE1878}" srcOrd="1" destOrd="0" presId="urn:microsoft.com/office/officeart/2005/8/layout/venn1"/>
    <dgm:cxn modelId="{8E742AAC-EA4F-47E3-9BA3-5E9F6FEC480F}" type="presParOf" srcId="{B5286C5D-BC51-420B-B77D-3BD5AAE62ACD}" destId="{7B1088B7-8387-4B1D-8D94-3E44F0F7F97D}" srcOrd="2" destOrd="0" presId="urn:microsoft.com/office/officeart/2005/8/layout/venn1"/>
    <dgm:cxn modelId="{ACC56879-7DBB-4AB6-9635-E82080839048}" type="presParOf" srcId="{B5286C5D-BC51-420B-B77D-3BD5AAE62ACD}" destId="{25D2EDD9-D718-4E98-8970-530B744AA90F}" srcOrd="3" destOrd="0" presId="urn:microsoft.com/office/officeart/2005/8/layout/venn1"/>
    <dgm:cxn modelId="{58B03BE2-3618-4CF9-ACEA-F52CAA0E2583}" type="presParOf" srcId="{B5286C5D-BC51-420B-B77D-3BD5AAE62ACD}" destId="{358DF6E2-B241-42B8-B077-196CABEA0657}" srcOrd="4" destOrd="0" presId="urn:microsoft.com/office/officeart/2005/8/layout/venn1"/>
    <dgm:cxn modelId="{246A71EA-6C27-4445-8F0D-2A0AE1B39013}" type="presParOf" srcId="{B5286C5D-BC51-420B-B77D-3BD5AAE62ACD}" destId="{84B3E876-3915-4A3E-AFD5-7048DA0662B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C61C3-E581-48B5-A675-2D02620D6F3C}">
      <dsp:nvSpPr>
        <dsp:cNvPr id="0" name=""/>
        <dsp:cNvSpPr/>
      </dsp:nvSpPr>
      <dsp:spPr>
        <a:xfrm>
          <a:off x="3291707" y="86162"/>
          <a:ext cx="4135791" cy="413579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>
              <a:latin typeface="Consolas" panose="020B0609020204030204" pitchFamily="49" charset="0"/>
            </a:rPr>
            <a:t>Automatización / Reproductibilidad</a:t>
          </a:r>
        </a:p>
      </dsp:txBody>
      <dsp:txXfrm>
        <a:off x="3843146" y="809925"/>
        <a:ext cx="3032913" cy="1861105"/>
      </dsp:txXfrm>
    </dsp:sp>
    <dsp:sp modelId="{7B1088B7-8387-4B1D-8D94-3E44F0F7F97D}">
      <dsp:nvSpPr>
        <dsp:cNvPr id="0" name=""/>
        <dsp:cNvSpPr/>
      </dsp:nvSpPr>
      <dsp:spPr>
        <a:xfrm>
          <a:off x="4784039" y="2671031"/>
          <a:ext cx="4135791" cy="4135791"/>
        </a:xfrm>
        <a:prstGeom prst="ellipse">
          <a:avLst/>
        </a:prstGeom>
        <a:solidFill>
          <a:schemeClr val="accent2">
            <a:alpha val="50000"/>
            <a:hueOff val="7890950"/>
            <a:satOff val="-32738"/>
            <a:lumOff val="-6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>
              <a:latin typeface="Consolas" panose="020B0609020204030204" pitchFamily="49" charset="0"/>
            </a:rPr>
            <a:t>Manipulación / Limpieza de datos</a:t>
          </a:r>
        </a:p>
      </dsp:txBody>
      <dsp:txXfrm>
        <a:off x="6048902" y="3739444"/>
        <a:ext cx="2481474" cy="2274685"/>
      </dsp:txXfrm>
    </dsp:sp>
    <dsp:sp modelId="{358DF6E2-B241-42B8-B077-196CABEA0657}">
      <dsp:nvSpPr>
        <dsp:cNvPr id="0" name=""/>
        <dsp:cNvSpPr/>
      </dsp:nvSpPr>
      <dsp:spPr>
        <a:xfrm>
          <a:off x="1799376" y="2671031"/>
          <a:ext cx="4135791" cy="4135791"/>
        </a:xfrm>
        <a:prstGeom prst="ellipse">
          <a:avLst/>
        </a:prstGeom>
        <a:solidFill>
          <a:schemeClr val="accent2">
            <a:alpha val="50000"/>
            <a:hueOff val="15781901"/>
            <a:satOff val="-65476"/>
            <a:lumOff val="-1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>
              <a:latin typeface="Consolas" panose="020B0609020204030204" pitchFamily="49" charset="0"/>
            </a:rPr>
            <a:t>Estadística / Análisis avanzado</a:t>
          </a:r>
        </a:p>
      </dsp:txBody>
      <dsp:txXfrm>
        <a:off x="2188830" y="3739444"/>
        <a:ext cx="2481474" cy="22746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01/03/2026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9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Introducción a 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  <a:latin typeface="Consolas" panose="020B0609020204030204" pitchFamily="49" charset="0"/>
              </a:rPr>
              <a:t>Sesión 1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Bienvenida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092325"/>
            <a:ext cx="11087100" cy="4351338"/>
          </a:xfrm>
        </p:spPr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Sesiones diseñadas a tu ritmo, intereses y objetivos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Los temas a abordar son sugeridos, no rígidos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El ritmo lo defines tú</a:t>
            </a:r>
          </a:p>
          <a:p>
            <a:r>
              <a:rPr lang="es-MX" i="1" dirty="0" err="1">
                <a:latin typeface="Consolas" panose="020B0609020204030204" pitchFamily="49" charset="0"/>
              </a:rPr>
              <a:t>Hands</a:t>
            </a:r>
            <a:r>
              <a:rPr lang="es-MX" i="1" dirty="0">
                <a:latin typeface="Consolas" panose="020B0609020204030204" pitchFamily="49" charset="0"/>
              </a:rPr>
              <a:t> </a:t>
            </a:r>
            <a:r>
              <a:rPr lang="es-MX" i="1" dirty="0" err="1">
                <a:latin typeface="Consolas" panose="020B0609020204030204" pitchFamily="49" charset="0"/>
              </a:rPr>
              <a:t>on</a:t>
            </a:r>
            <a:r>
              <a:rPr lang="es-MX" i="1" dirty="0"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desde el día 1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Repo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GitHub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Pantalla compartida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Ejercicios prácticos </a:t>
            </a:r>
          </a:p>
          <a:p>
            <a:pPr lvl="2"/>
            <a:endParaRPr lang="es-MX" b="1" dirty="0">
              <a:solidFill>
                <a:schemeClr val="accent3"/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 flipH="1">
            <a:off x="10158821" y="5144901"/>
            <a:ext cx="2033179" cy="1630683"/>
            <a:chOff x="0" y="5183001"/>
            <a:chExt cx="2033179" cy="1630683"/>
          </a:xfrm>
        </p:grpSpPr>
        <p:sp>
          <p:nvSpPr>
            <p:cNvPr id="9" name="Forma libre 8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703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Objetivos del día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Entorno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Repo </a:t>
            </a:r>
            <a:r>
              <a:rPr lang="es-MX" sz="1800" dirty="0" err="1">
                <a:latin typeface="Consolas" panose="020B0609020204030204" pitchFamily="49" charset="0"/>
              </a:rPr>
              <a:t>Github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IDE (</a:t>
            </a:r>
            <a:r>
              <a:rPr lang="es-MX" sz="1800" dirty="0" err="1">
                <a:latin typeface="Consolas" panose="020B0609020204030204" pitchFamily="49" charset="0"/>
              </a:rPr>
              <a:t>Rstudio</a:t>
            </a:r>
            <a:r>
              <a:rPr lang="es-MX" sz="1800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Librerías 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endParaRPr lang="es-MX" sz="20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Carga de datos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Limpieza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Manipulación</a:t>
            </a:r>
          </a:p>
          <a:p>
            <a:pPr lvl="2"/>
            <a:r>
              <a:rPr lang="es-MX" sz="1600" dirty="0">
                <a:latin typeface="Consolas" panose="020B0609020204030204" pitchFamily="49" charset="0"/>
              </a:rPr>
              <a:t>Operaciones numéricas</a:t>
            </a:r>
          </a:p>
          <a:p>
            <a:pPr lvl="2"/>
            <a:r>
              <a:rPr lang="es-MX" sz="1600" dirty="0">
                <a:latin typeface="Consolas" panose="020B0609020204030204" pitchFamily="49" charset="0"/>
              </a:rPr>
              <a:t>Operaciones con </a:t>
            </a:r>
            <a:r>
              <a:rPr lang="es-MX" sz="1600" i="1" dirty="0" err="1">
                <a:latin typeface="Consolas" panose="020B0609020204030204" pitchFamily="49" charset="0"/>
              </a:rPr>
              <a:t>strings</a:t>
            </a:r>
            <a:endParaRPr lang="es-MX" sz="1600" i="1" dirty="0">
              <a:latin typeface="Consolas" panose="020B0609020204030204" pitchFamily="49" charset="0"/>
            </a:endParaRPr>
          </a:p>
          <a:p>
            <a:pPr lvl="2"/>
            <a:r>
              <a:rPr lang="es-MX" sz="1600" dirty="0">
                <a:latin typeface="Consolas" panose="020B0609020204030204" pitchFamily="49" charset="0"/>
              </a:rPr>
              <a:t>Agrupado y colapsado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Exportado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Flujo de trabajo completo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Diseño de </a:t>
            </a:r>
            <a:r>
              <a:rPr lang="es-MX" sz="1800" i="1" dirty="0">
                <a:latin typeface="Consolas" panose="020B0609020204030204" pitchFamily="49" charset="0"/>
              </a:rPr>
              <a:t>pipeline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Reproductibilidad</a:t>
            </a: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443090" y="2626078"/>
            <a:ext cx="3848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serás capaz de crear un pipeline básico en R que transforme datos brutos en una base lista para 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análisis y toma de decisión.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478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¿Por qué R?</a:t>
            </a:r>
          </a:p>
        </p:txBody>
      </p:sp>
    </p:spTree>
    <p:extLst>
      <p:ext uri="{BB962C8B-B14F-4D97-AF65-F5344CB8AC3E}">
        <p14:creationId xmlns:p14="http://schemas.microsoft.com/office/powerpoint/2010/main" val="248279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3585550326"/>
              </p:ext>
            </p:extLst>
          </p:nvPr>
        </p:nvGraphicFramePr>
        <p:xfrm>
          <a:off x="708068" y="-34986"/>
          <a:ext cx="10719207" cy="6892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647" y="3521829"/>
            <a:ext cx="771976" cy="57539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667" y="2683145"/>
            <a:ext cx="838684" cy="83868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667" y="5234286"/>
            <a:ext cx="978383" cy="61148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34" y="2329974"/>
            <a:ext cx="772513" cy="7725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710" y="3227066"/>
            <a:ext cx="1282699" cy="734204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333375" y="441326"/>
            <a:ext cx="3667125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b="1" dirty="0">
                <a:latin typeface="Consolas" panose="020B0609020204030204" pitchFamily="49" charset="0"/>
              </a:rPr>
              <a:t>¿Donde vive R?</a:t>
            </a:r>
          </a:p>
        </p:txBody>
      </p:sp>
    </p:spTree>
    <p:extLst>
      <p:ext uri="{BB962C8B-B14F-4D97-AF65-F5344CB8AC3E}">
        <p14:creationId xmlns:p14="http://schemas.microsoft.com/office/powerpoint/2010/main" val="167707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s-MX" dirty="0">
                <a:latin typeface="Consolas" panose="020B0609020204030204" pitchFamily="49" charset="0"/>
              </a:rPr>
              <a:t>¿Qué ofrece R?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569081" y="1600200"/>
            <a:ext cx="4627562" cy="419258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Leguaje de programación flexible orientado a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objetos </a:t>
            </a:r>
            <a:r>
              <a:rPr lang="es-MX" sz="2000" dirty="0">
                <a:latin typeface="Consolas" panose="020B0609020204030204" pitchFamily="49" charset="0"/>
              </a:rPr>
              <a:t>diseñado para el manejo y análisis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Gratuito y de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código libre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Colaborativo mantenido por una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comunidad global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Fácil integración </a:t>
            </a:r>
            <a:r>
              <a:rPr lang="es-MX" sz="2000" dirty="0">
                <a:latin typeface="Consolas" panose="020B0609020204030204" pitchFamily="49" charset="0"/>
              </a:rPr>
              <a:t>con otras herramientas (Python, SQL, </a:t>
            </a:r>
            <a:r>
              <a:rPr lang="es-MX" sz="2000" dirty="0" err="1">
                <a:latin typeface="Consolas" panose="020B0609020204030204" pitchFamily="49" charset="0"/>
              </a:rPr>
              <a:t>Power</a:t>
            </a:r>
            <a:r>
              <a:rPr lang="es-MX" sz="2000" dirty="0">
                <a:latin typeface="Consolas" panose="020B0609020204030204" pitchFamily="49" charset="0"/>
              </a:rPr>
              <a:t> BI)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Alta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reproductibilidad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Uso extendido en el sector público y la academia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chemeClr val="accent3"/>
              </a:solidFill>
            </a:endParaRPr>
          </a:p>
          <a:p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540" y="1771650"/>
            <a:ext cx="5644299" cy="171472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900" y="3577236"/>
            <a:ext cx="5647939" cy="186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7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Entorno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37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nsolas" panose="020B0609020204030204" pitchFamily="49" charset="0"/>
              </a:rPr>
              <a:t>Paquetes y </a:t>
            </a:r>
            <a:r>
              <a:rPr lang="es-MX" b="1" i="1" dirty="0" err="1">
                <a:latin typeface="Consolas" panose="020B0609020204030204" pitchFamily="49" charset="0"/>
              </a:rPr>
              <a:t>tidyverse</a:t>
            </a:r>
            <a:endParaRPr lang="es-MX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6578600" cy="4351338"/>
          </a:xfrm>
        </p:spPr>
        <p:txBody>
          <a:bodyPr>
            <a:normAutofit fontScale="92500" lnSpcReduction="1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Se instalan desde CRAN con </a:t>
            </a:r>
            <a:r>
              <a:rPr lang="es-MX" dirty="0" err="1">
                <a:solidFill>
                  <a:schemeClr val="accent2"/>
                </a:solidFill>
                <a:latin typeface="Consolas" panose="020B0609020204030204" pitchFamily="49" charset="0"/>
              </a:rPr>
              <a:t>install.packages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  <a:endParaRPr lang="es-MX" dirty="0">
              <a:latin typeface="Consolas" panose="020B0609020204030204" pitchFamily="49" charset="0"/>
            </a:endParaRPr>
          </a:p>
          <a:p>
            <a:r>
              <a:rPr lang="es-MX" dirty="0">
                <a:latin typeface="Consolas" panose="020B0609020204030204" pitchFamily="49" charset="0"/>
              </a:rPr>
              <a:t>Curso basado en el ecosistema </a:t>
            </a:r>
            <a:r>
              <a:rPr lang="es-MX" i="1" dirty="0" err="1">
                <a:latin typeface="Consolas" panose="020B0609020204030204" pitchFamily="49" charset="0"/>
              </a:rPr>
              <a:t>Tidyverse</a:t>
            </a:r>
            <a:endParaRPr lang="es-MX" i="1" dirty="0">
              <a:latin typeface="Consolas" panose="020B0609020204030204" pitchFamily="49" charset="0"/>
            </a:endParaRPr>
          </a:p>
          <a:p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es un conjunto de paquetes para análisis de datos.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Sintaxis consistente y fácil de leer.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Incluye herramientas para importar, limpiar, transformar y visualizar datos.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Paquetes clave: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dplyr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readr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ggplot2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25" y="1825625"/>
            <a:ext cx="4753082" cy="36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1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>
                <a:latin typeface="Consolas" panose="020B0609020204030204" pitchFamily="49" charset="0"/>
              </a:rPr>
              <a:t>Operador pipe y funciones </a:t>
            </a:r>
            <a:r>
              <a:rPr lang="es-MX" sz="4000" b="1" i="1" dirty="0" err="1">
                <a:latin typeface="Consolas" panose="020B0609020204030204" pitchFamily="49" charset="0"/>
              </a:rPr>
              <a:t>dplyr</a:t>
            </a:r>
            <a:endParaRPr lang="es-MX" sz="40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 fontScale="70000" lnSpcReduction="2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Operador pipe (%&gt;%)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Permite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encadenar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pasos de análisis de forma clara.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Se lee como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“y luego”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Toma el resultado de una línea y lo pasa a la siguiente.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Usado ampliamente en el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r>
              <a:rPr lang="es-MX" dirty="0">
                <a:latin typeface="Consolas" panose="020B0609020204030204" pitchFamily="49" charset="0"/>
              </a:rPr>
              <a:t>.</a:t>
            </a:r>
          </a:p>
          <a:p>
            <a:pPr lvl="1"/>
            <a:endParaRPr lang="es-MX" dirty="0">
              <a:latin typeface="Consolas" panose="020B0609020204030204" pitchFamily="49" charset="0"/>
            </a:endParaRPr>
          </a:p>
          <a:p>
            <a:r>
              <a:rPr lang="es-MX" dirty="0" err="1">
                <a:latin typeface="Consolas" panose="020B0609020204030204" pitchFamily="49" charset="0"/>
              </a:rPr>
              <a:t>Filter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Selecciona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filas que cumplen una condición (filtrado por criterios).</a:t>
            </a:r>
          </a:p>
          <a:p>
            <a:r>
              <a:rPr lang="es-MX" dirty="0" err="1">
                <a:latin typeface="Consolas" panose="020B0609020204030204" pitchFamily="49" charset="0"/>
              </a:rPr>
              <a:t>Mutate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rgbClr val="79ADDC"/>
                </a:solidFill>
                <a:latin typeface="Consolas" panose="020B0609020204030204" pitchFamily="49" charset="0"/>
              </a:rPr>
              <a:t>Crea</a:t>
            </a:r>
            <a:r>
              <a:rPr lang="es-MX" dirty="0">
                <a:latin typeface="Consolas" panose="020B0609020204030204" pitchFamily="49" charset="0"/>
              </a:rPr>
              <a:t> nuevas columnas o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modifica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columnas existentes.</a:t>
            </a:r>
          </a:p>
          <a:p>
            <a:r>
              <a:rPr lang="es-MX" dirty="0" err="1">
                <a:latin typeface="Consolas" panose="020B0609020204030204" pitchFamily="49" charset="0"/>
              </a:rPr>
              <a:t>Select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Elige columnas </a:t>
            </a:r>
            <a:r>
              <a:rPr lang="es-MX" dirty="0">
                <a:latin typeface="Consolas" panose="020B0609020204030204" pitchFamily="49" charset="0"/>
              </a:rPr>
              <a:t>específicas del </a:t>
            </a:r>
            <a:r>
              <a:rPr lang="es-MX" dirty="0" err="1">
                <a:latin typeface="Consolas" panose="020B0609020204030204" pitchFamily="49" charset="0"/>
              </a:rPr>
              <a:t>dataframe</a:t>
            </a:r>
            <a:r>
              <a:rPr lang="es-MX" dirty="0">
                <a:latin typeface="Consolas" panose="020B0609020204030204" pitchFamily="49" charset="0"/>
              </a:rPr>
              <a:t>. Útil para limpiar y enfocar la tabla.</a:t>
            </a:r>
          </a:p>
          <a:p>
            <a:r>
              <a:rPr lang="es-MX" dirty="0" err="1">
                <a:latin typeface="Consolas" panose="020B0609020204030204" pitchFamily="49" charset="0"/>
              </a:rPr>
              <a:t>Group_by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Agrupa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los datos por una o varias variables para poder resumirlos.</a:t>
            </a:r>
          </a:p>
          <a:p>
            <a:r>
              <a:rPr lang="es-MX" dirty="0" err="1">
                <a:latin typeface="Consolas" panose="020B0609020204030204" pitchFamily="49" charset="0"/>
              </a:rPr>
              <a:t>Summarize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Crea un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resumen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de los datos: promedios, conteos, mínimos, máximos, etc.</a:t>
            </a:r>
          </a:p>
        </p:txBody>
      </p:sp>
    </p:spTree>
    <p:extLst>
      <p:ext uri="{BB962C8B-B14F-4D97-AF65-F5344CB8AC3E}">
        <p14:creationId xmlns:p14="http://schemas.microsoft.com/office/powerpoint/2010/main" val="245751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Carga y manipulación con </a:t>
            </a:r>
            <a:r>
              <a:rPr lang="es-MX" i="1" dirty="0" err="1">
                <a:latin typeface="Consolas" panose="020B0609020204030204" pitchFamily="49" charset="0"/>
              </a:rPr>
              <a:t>Tidyverse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84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>
                <a:latin typeface="Consolas" panose="020B0609020204030204" pitchFamily="49" charset="0"/>
              </a:rPr>
              <a:t>Juntándolo todo: Flujo de trabajo real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/>
          </a:bodyPr>
          <a:lstStyle/>
          <a:p>
            <a:r>
              <a:rPr lang="es-MX" i="1" dirty="0" err="1">
                <a:latin typeface="Consolas" panose="020B0609020204030204" pitchFamily="49" charset="0"/>
              </a:rPr>
              <a:t>Recap</a:t>
            </a:r>
            <a:r>
              <a:rPr lang="es-MX" dirty="0">
                <a:latin typeface="Consolas" panose="020B0609020204030204" pitchFamily="49" charset="0"/>
              </a:rPr>
              <a:t>: </a:t>
            </a:r>
          </a:p>
          <a:p>
            <a:pPr lvl="1"/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Cargamos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la base de </a:t>
            </a:r>
            <a:r>
              <a:rPr lang="es-MX" dirty="0" smtClean="0">
                <a:latin typeface="Consolas" panose="020B0609020204030204" pitchFamily="49" charset="0"/>
              </a:rPr>
              <a:t>rentas</a:t>
            </a:r>
            <a:endParaRPr lang="es-MX" dirty="0">
              <a:latin typeface="Consolas" panose="020B0609020204030204" pitchFamily="49" charset="0"/>
            </a:endParaRPr>
          </a:p>
          <a:p>
            <a:pPr lvl="1"/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Transformamos</a:t>
            </a:r>
            <a:r>
              <a:rPr lang="es-MX" dirty="0">
                <a:latin typeface="Consolas" panose="020B0609020204030204" pitchFamily="49" charset="0"/>
              </a:rPr>
              <a:t> y </a:t>
            </a:r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codificamos</a:t>
            </a:r>
            <a:r>
              <a:rPr lang="es-MX" dirty="0">
                <a:latin typeface="Consolas" panose="020B0609020204030204" pitchFamily="49" charset="0"/>
              </a:rPr>
              <a:t> columnas de </a:t>
            </a:r>
            <a:r>
              <a:rPr lang="es-MX" dirty="0" smtClean="0">
                <a:latin typeface="Consolas" panose="020B0609020204030204" pitchFamily="49" charset="0"/>
              </a:rPr>
              <a:t>ubicación, precio y proximidad</a:t>
            </a:r>
            <a:endParaRPr lang="es-MX" dirty="0">
              <a:latin typeface="Consolas" panose="020B0609020204030204" pitchFamily="49" charset="0"/>
            </a:endParaRPr>
          </a:p>
          <a:p>
            <a:pPr lvl="1"/>
            <a:r>
              <a:rPr lang="es-MX" dirty="0">
                <a:latin typeface="Consolas" panose="020B0609020204030204" pitchFamily="49" charset="0"/>
              </a:rPr>
              <a:t>Generamos columnas </a:t>
            </a:r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condicionales</a:t>
            </a:r>
            <a:endParaRPr lang="es-MX" dirty="0">
              <a:latin typeface="Consolas" panose="020B0609020204030204" pitchFamily="49" charset="0"/>
            </a:endParaRPr>
          </a:p>
          <a:p>
            <a:pPr lvl="1"/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Creamos</a:t>
            </a:r>
            <a:r>
              <a:rPr lang="es-MX" dirty="0">
                <a:latin typeface="Consolas" panose="020B0609020204030204" pitchFamily="49" charset="0"/>
              </a:rPr>
              <a:t> tabla agregada a nivel </a:t>
            </a:r>
            <a:r>
              <a:rPr lang="es-MX" dirty="0" smtClean="0">
                <a:latin typeface="Consolas" panose="020B0609020204030204" pitchFamily="49" charset="0"/>
              </a:rPr>
              <a:t>ciudades.</a:t>
            </a:r>
            <a:endParaRPr lang="es-MX" dirty="0">
              <a:latin typeface="Consolas" panose="020B0609020204030204" pitchFamily="49" charset="0"/>
            </a:endParaRPr>
          </a:p>
          <a:p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¿Cómo convertimos ese proceso en un flujo ágil y replicable?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Exploración != pipeline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Consistencia de entradas y salidas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Economizar memoria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Balance minimalismo-legibilidad</a:t>
            </a:r>
          </a:p>
        </p:txBody>
      </p:sp>
    </p:spTree>
    <p:extLst>
      <p:ext uri="{BB962C8B-B14F-4D97-AF65-F5344CB8AC3E}">
        <p14:creationId xmlns:p14="http://schemas.microsoft.com/office/powerpoint/2010/main" val="426476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Flujo de trabajo completo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9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>
                <a:latin typeface="Consolas" panose="020B0609020204030204" pitchFamily="49" charset="0"/>
              </a:rPr>
              <a:t>Ejercicio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5323703" cy="4978400"/>
          </a:xfrm>
          <a:solidFill>
            <a:srgbClr val="038DD6"/>
          </a:solidFill>
        </p:spPr>
        <p:txBody>
          <a:bodyPr>
            <a:normAutofit fontScale="55000" lnSpcReduction="2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Limpiar nombres de variables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r>
              <a:rPr lang="es-MX" dirty="0" smtClean="0">
                <a:latin typeface="Consolas" panose="020B0609020204030204" pitchFamily="49" charset="0"/>
              </a:rPr>
              <a:t>Crear </a:t>
            </a:r>
            <a:r>
              <a:rPr lang="es-MX" dirty="0">
                <a:latin typeface="Consolas" panose="020B0609020204030204" pitchFamily="49" charset="0"/>
              </a:rPr>
              <a:t>variable categórica de proximidad usando </a:t>
            </a:r>
            <a:r>
              <a:rPr lang="es-MX" dirty="0" err="1">
                <a:latin typeface="Consolas" panose="020B0609020204030204" pitchFamily="49" charset="0"/>
              </a:rPr>
              <a:t>proximity_index</a:t>
            </a:r>
            <a:r>
              <a:rPr lang="es-MX" dirty="0" smtClean="0">
                <a:latin typeface="Consolas" panose="020B0609020204030204" pitchFamily="49" charset="0"/>
              </a:rPr>
              <a:t>: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≥ </a:t>
            </a:r>
            <a:r>
              <a:rPr lang="es-MX" dirty="0">
                <a:latin typeface="Consolas" panose="020B0609020204030204" pitchFamily="49" charset="0"/>
              </a:rPr>
              <a:t>1.2 → Alta proximidad≥ </a:t>
            </a:r>
            <a:endParaRPr lang="es-MX" dirty="0" smtClean="0">
              <a:latin typeface="Consolas" panose="020B0609020204030204" pitchFamily="49" charset="0"/>
            </a:endParaRP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0.8 </a:t>
            </a:r>
            <a:r>
              <a:rPr lang="es-MX" dirty="0">
                <a:latin typeface="Consolas" panose="020B0609020204030204" pitchFamily="49" charset="0"/>
              </a:rPr>
              <a:t>y &lt; 1.2 → Proximidad </a:t>
            </a:r>
            <a:r>
              <a:rPr lang="es-MX" dirty="0" smtClean="0">
                <a:latin typeface="Consolas" panose="020B0609020204030204" pitchFamily="49" charset="0"/>
              </a:rPr>
              <a:t>media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&lt; </a:t>
            </a:r>
            <a:r>
              <a:rPr lang="es-MX" dirty="0">
                <a:latin typeface="Consolas" panose="020B0609020204030204" pitchFamily="49" charset="0"/>
              </a:rPr>
              <a:t>0.8 → Proximidad </a:t>
            </a:r>
            <a:r>
              <a:rPr lang="es-MX" dirty="0" smtClean="0">
                <a:latin typeface="Consolas" panose="020B0609020204030204" pitchFamily="49" charset="0"/>
              </a:rPr>
              <a:t>baja</a:t>
            </a:r>
          </a:p>
          <a:p>
            <a:r>
              <a:rPr lang="es-MX" dirty="0" smtClean="0">
                <a:latin typeface="Consolas" panose="020B0609020204030204" pitchFamily="49" charset="0"/>
              </a:rPr>
              <a:t>Construir </a:t>
            </a:r>
            <a:r>
              <a:rPr lang="es-MX" dirty="0">
                <a:latin typeface="Consolas" panose="020B0609020204030204" pitchFamily="49" charset="0"/>
              </a:rPr>
              <a:t>un índice de valor turístico:𝑖𝑛𝑑𝑖𝑐𝑒=𝑔𝑢𝑒𝑠𝑡_𝑠𝑎𝑡𝑖𝑠𝑓𝑎𝑐𝑡𝑖𝑜𝑛_𝑠𝑐𝑜𝑟𝑒×𝑠𝑎𝑓𝑒𝑡𝑦_𝑖𝑛𝑑𝑒𝑥𝑝𝑟𝑖𝑐𝑒_</a:t>
            </a:r>
            <a:r>
              <a:rPr lang="es-MX" dirty="0" smtClean="0">
                <a:latin typeface="Consolas" panose="020B0609020204030204" pitchFamily="49" charset="0"/>
              </a:rPr>
              <a:t>𝑡𝑜𝑡𝑎𝑙</a:t>
            </a:r>
          </a:p>
          <a:p>
            <a:r>
              <a:rPr lang="es-MX" dirty="0" smtClean="0">
                <a:latin typeface="Consolas" panose="020B0609020204030204" pitchFamily="49" charset="0"/>
              </a:rPr>
              <a:t>​</a:t>
            </a:r>
            <a:r>
              <a:rPr lang="es-MX" dirty="0">
                <a:latin typeface="Consolas" panose="020B0609020204030204" pitchFamily="49" charset="0"/>
              </a:rPr>
              <a:t>Agrupar </a:t>
            </a:r>
            <a:r>
              <a:rPr lang="es-MX" dirty="0" smtClean="0">
                <a:latin typeface="Consolas" panose="020B0609020204030204" pitchFamily="49" charset="0"/>
              </a:rPr>
              <a:t>por: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Ciudad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Tipo </a:t>
            </a:r>
            <a:r>
              <a:rPr lang="es-MX" dirty="0">
                <a:latin typeface="Consolas" panose="020B0609020204030204" pitchFamily="49" charset="0"/>
              </a:rPr>
              <a:t>de habitación (</a:t>
            </a:r>
            <a:r>
              <a:rPr lang="es-MX" dirty="0" err="1">
                <a:latin typeface="Consolas" panose="020B0609020204030204" pitchFamily="49" charset="0"/>
              </a:rPr>
              <a:t>room_type</a:t>
            </a:r>
            <a:r>
              <a:rPr lang="es-MX" dirty="0" smtClean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Categoría </a:t>
            </a:r>
            <a:r>
              <a:rPr lang="es-MX" dirty="0">
                <a:latin typeface="Consolas" panose="020B0609020204030204" pitchFamily="49" charset="0"/>
              </a:rPr>
              <a:t>de </a:t>
            </a:r>
            <a:r>
              <a:rPr lang="es-MX" dirty="0" smtClean="0">
                <a:latin typeface="Consolas" panose="020B0609020204030204" pitchFamily="49" charset="0"/>
              </a:rPr>
              <a:t>proximidad</a:t>
            </a:r>
          </a:p>
          <a:p>
            <a:r>
              <a:rPr lang="es-MX" dirty="0" smtClean="0">
                <a:latin typeface="Consolas" panose="020B0609020204030204" pitchFamily="49" charset="0"/>
              </a:rPr>
              <a:t>Calcular </a:t>
            </a:r>
            <a:r>
              <a:rPr lang="es-MX" dirty="0">
                <a:latin typeface="Consolas" panose="020B0609020204030204" pitchFamily="49" charset="0"/>
              </a:rPr>
              <a:t>por grupo</a:t>
            </a:r>
            <a:r>
              <a:rPr lang="es-MX" dirty="0" smtClean="0">
                <a:latin typeface="Consolas" panose="020B0609020204030204" pitchFamily="49" charset="0"/>
              </a:rPr>
              <a:t>: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Número </a:t>
            </a:r>
            <a:r>
              <a:rPr lang="es-MX" dirty="0">
                <a:latin typeface="Consolas" panose="020B0609020204030204" pitchFamily="49" charset="0"/>
              </a:rPr>
              <a:t>de </a:t>
            </a:r>
            <a:r>
              <a:rPr lang="es-MX" dirty="0" smtClean="0">
                <a:latin typeface="Consolas" panose="020B0609020204030204" pitchFamily="49" charset="0"/>
              </a:rPr>
              <a:t>propiedades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Precio promedio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Satisfacción promedio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Índice </a:t>
            </a:r>
            <a:r>
              <a:rPr lang="es-MX" dirty="0">
                <a:latin typeface="Consolas" panose="020B0609020204030204" pitchFamily="49" charset="0"/>
              </a:rPr>
              <a:t>de valor turístico </a:t>
            </a:r>
            <a:r>
              <a:rPr lang="es-MX" dirty="0" smtClean="0">
                <a:latin typeface="Consolas" panose="020B0609020204030204" pitchFamily="49" charset="0"/>
              </a:rPr>
              <a:t>promedio</a:t>
            </a:r>
          </a:p>
          <a:p>
            <a:r>
              <a:rPr lang="es-MX" dirty="0" smtClean="0">
                <a:latin typeface="Consolas" panose="020B0609020204030204" pitchFamily="49" charset="0"/>
              </a:rPr>
              <a:t>Identificar </a:t>
            </a:r>
            <a:r>
              <a:rPr lang="es-MX" dirty="0">
                <a:latin typeface="Consolas" panose="020B0609020204030204" pitchFamily="49" charset="0"/>
              </a:rPr>
              <a:t>la combinación con mayor índice de valor turístico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r>
              <a:rPr lang="es-MX" dirty="0" smtClean="0">
                <a:latin typeface="Consolas" panose="020B0609020204030204" pitchFamily="49" charset="0"/>
              </a:rPr>
              <a:t>Exportar </a:t>
            </a:r>
            <a:r>
              <a:rPr lang="es-MX" dirty="0">
                <a:latin typeface="Consolas" panose="020B0609020204030204" pitchFamily="49" charset="0"/>
              </a:rPr>
              <a:t>resultados a Excel.</a:t>
            </a:r>
            <a:endParaRPr lang="es-MX" dirty="0">
              <a:latin typeface="Consolas" panose="020B0609020204030204" pitchFamily="49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056" y="1750639"/>
            <a:ext cx="4684744" cy="350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1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519</Words>
  <Application>Microsoft Office PowerPoint</Application>
  <PresentationFormat>Panorámica</PresentationFormat>
  <Paragraphs>98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Tema de Office</vt:lpstr>
      <vt:lpstr>Introducción a R</vt:lpstr>
      <vt:lpstr>Bienvenida</vt:lpstr>
      <vt:lpstr>Objetivos del día</vt:lpstr>
      <vt:lpstr>¿Por qué R?</vt:lpstr>
      <vt:lpstr>Presentación de PowerPoint</vt:lpstr>
      <vt:lpstr>¿Qué ofrece R?</vt:lpstr>
      <vt:lpstr>Entorno</vt:lpstr>
      <vt:lpstr>Paquetes y tidyverse</vt:lpstr>
      <vt:lpstr>Operador pipe y funciones dplyr</vt:lpstr>
      <vt:lpstr>Carga y manipulación con Tidyverse</vt:lpstr>
      <vt:lpstr>Juntándolo todo: Flujo de trabajo real</vt:lpstr>
      <vt:lpstr>Flujo de trabajo completo</vt:lpstr>
      <vt:lpstr>Ejercicio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user</cp:lastModifiedBy>
  <cp:revision>29</cp:revision>
  <dcterms:created xsi:type="dcterms:W3CDTF">2025-12-13T08:20:06Z</dcterms:created>
  <dcterms:modified xsi:type="dcterms:W3CDTF">2026-03-01T09:00:01Z</dcterms:modified>
</cp:coreProperties>
</file>