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0" r:id="rId4"/>
    <p:sldId id="263" r:id="rId5"/>
    <p:sldId id="258" r:id="rId6"/>
    <p:sldId id="261" r:id="rId7"/>
    <p:sldId id="262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38D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F7AE4BA-2508-47D9-AAF0-FACC4B21E93D}" v="56" dt="2026-02-28T16:49:32.4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009" autoAdjust="0"/>
    <p:restoredTop sz="94660"/>
  </p:normalViewPr>
  <p:slideViewPr>
    <p:cSldViewPr snapToGrid="0">
      <p:cViewPr varScale="1">
        <p:scale>
          <a:sx n="55" d="100"/>
          <a:sy n="55" d="100"/>
        </p:scale>
        <p:origin x="944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1CA1C7D-752A-4584-8D3F-A04D2BAD6058}" type="doc">
      <dgm:prSet loTypeId="urn:microsoft.com/office/officeart/2005/8/layout/venn1" loCatId="relationship" qsTypeId="urn:microsoft.com/office/officeart/2005/8/quickstyle/simple1" qsCatId="simple" csTypeId="urn:microsoft.com/office/officeart/2005/8/colors/colorful2" csCatId="colorful" phldr="1"/>
      <dgm:spPr/>
    </dgm:pt>
    <dgm:pt modelId="{CA32C9C6-FA48-4236-A80F-783DC7FDF937}">
      <dgm:prSet phldrT="[Texto]" custT="1"/>
      <dgm:spPr/>
      <dgm:t>
        <a:bodyPr/>
        <a:lstStyle/>
        <a:p>
          <a:r>
            <a:rPr lang="es-MX" sz="1800" dirty="0">
              <a:latin typeface="Consolas" panose="020B0609020204030204" pitchFamily="49" charset="0"/>
            </a:rPr>
            <a:t>Automatización / Reproductibilidad</a:t>
          </a:r>
        </a:p>
      </dgm:t>
    </dgm:pt>
    <dgm:pt modelId="{9D64A77D-8FF6-42F4-ACAE-C80E3CE36165}" type="parTrans" cxnId="{3C5CD44F-F6B1-42BB-9241-D65B3CD83E6C}">
      <dgm:prSet/>
      <dgm:spPr/>
      <dgm:t>
        <a:bodyPr/>
        <a:lstStyle/>
        <a:p>
          <a:endParaRPr lang="es-MX"/>
        </a:p>
      </dgm:t>
    </dgm:pt>
    <dgm:pt modelId="{5ABE2C0B-2D0C-41B0-99FE-A922040AD1F0}" type="sibTrans" cxnId="{3C5CD44F-F6B1-42BB-9241-D65B3CD83E6C}">
      <dgm:prSet/>
      <dgm:spPr/>
      <dgm:t>
        <a:bodyPr/>
        <a:lstStyle/>
        <a:p>
          <a:endParaRPr lang="es-MX"/>
        </a:p>
      </dgm:t>
    </dgm:pt>
    <dgm:pt modelId="{BEA50DBE-F3CA-4A6E-8498-EBB4A3D5D2DF}">
      <dgm:prSet phldrT="[Texto]" custT="1"/>
      <dgm:spPr/>
      <dgm:t>
        <a:bodyPr/>
        <a:lstStyle/>
        <a:p>
          <a:r>
            <a:rPr lang="es-MX" sz="1800" dirty="0">
              <a:latin typeface="Consolas" panose="020B0609020204030204" pitchFamily="49" charset="0"/>
            </a:rPr>
            <a:t>Manipulación / Limpieza de datos</a:t>
          </a:r>
        </a:p>
      </dgm:t>
    </dgm:pt>
    <dgm:pt modelId="{B2D3EE0F-5012-4B43-8815-EF93503AAAED}" type="parTrans" cxnId="{AD6A7CDF-86B6-4223-B236-F2DC08E5B05A}">
      <dgm:prSet/>
      <dgm:spPr/>
      <dgm:t>
        <a:bodyPr/>
        <a:lstStyle/>
        <a:p>
          <a:endParaRPr lang="es-MX"/>
        </a:p>
      </dgm:t>
    </dgm:pt>
    <dgm:pt modelId="{D392F1ED-1AEA-4EA3-9F2E-910E8E50C06B}" type="sibTrans" cxnId="{AD6A7CDF-86B6-4223-B236-F2DC08E5B05A}">
      <dgm:prSet/>
      <dgm:spPr/>
      <dgm:t>
        <a:bodyPr/>
        <a:lstStyle/>
        <a:p>
          <a:endParaRPr lang="es-MX"/>
        </a:p>
      </dgm:t>
    </dgm:pt>
    <dgm:pt modelId="{EF70572B-9E37-4E17-89B2-3827133715AA}">
      <dgm:prSet phldrT="[Texto]" custT="1"/>
      <dgm:spPr/>
      <dgm:t>
        <a:bodyPr/>
        <a:lstStyle/>
        <a:p>
          <a:r>
            <a:rPr lang="es-MX" sz="1800" dirty="0">
              <a:latin typeface="Consolas" panose="020B0609020204030204" pitchFamily="49" charset="0"/>
            </a:rPr>
            <a:t>Estadística / Análisis avanzado</a:t>
          </a:r>
        </a:p>
      </dgm:t>
    </dgm:pt>
    <dgm:pt modelId="{FA2DD8B4-ED96-4160-81A5-E70B7316E70E}" type="parTrans" cxnId="{A9C7E0EB-260C-4D54-917A-4D1448CE72EA}">
      <dgm:prSet/>
      <dgm:spPr/>
      <dgm:t>
        <a:bodyPr/>
        <a:lstStyle/>
        <a:p>
          <a:endParaRPr lang="es-MX"/>
        </a:p>
      </dgm:t>
    </dgm:pt>
    <dgm:pt modelId="{F0AE77E0-A5ED-491F-A8CC-E6816EBBBB3E}" type="sibTrans" cxnId="{A9C7E0EB-260C-4D54-917A-4D1448CE72EA}">
      <dgm:prSet/>
      <dgm:spPr/>
      <dgm:t>
        <a:bodyPr/>
        <a:lstStyle/>
        <a:p>
          <a:endParaRPr lang="es-MX"/>
        </a:p>
      </dgm:t>
    </dgm:pt>
    <dgm:pt modelId="{B5286C5D-BC51-420B-B77D-3BD5AAE62ACD}" type="pres">
      <dgm:prSet presAssocID="{C1CA1C7D-752A-4584-8D3F-A04D2BAD6058}" presName="compositeShape" presStyleCnt="0">
        <dgm:presLayoutVars>
          <dgm:chMax val="7"/>
          <dgm:dir/>
          <dgm:resizeHandles val="exact"/>
        </dgm:presLayoutVars>
      </dgm:prSet>
      <dgm:spPr/>
    </dgm:pt>
    <dgm:pt modelId="{AD2C61C3-E581-48B5-A675-2D02620D6F3C}" type="pres">
      <dgm:prSet presAssocID="{CA32C9C6-FA48-4236-A80F-783DC7FDF937}" presName="circ1" presStyleLbl="vennNode1" presStyleIdx="0" presStyleCnt="3"/>
      <dgm:spPr/>
    </dgm:pt>
    <dgm:pt modelId="{D479A919-B692-4CF8-8D15-1A6432AE1878}" type="pres">
      <dgm:prSet presAssocID="{CA32C9C6-FA48-4236-A80F-783DC7FDF937}" presName="circ1Tx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7B1088B7-8387-4B1D-8D94-3E44F0F7F97D}" type="pres">
      <dgm:prSet presAssocID="{BEA50DBE-F3CA-4A6E-8498-EBB4A3D5D2DF}" presName="circ2" presStyleLbl="vennNode1" presStyleIdx="1" presStyleCnt="3"/>
      <dgm:spPr/>
    </dgm:pt>
    <dgm:pt modelId="{25D2EDD9-D718-4E98-8970-530B744AA90F}" type="pres">
      <dgm:prSet presAssocID="{BEA50DBE-F3CA-4A6E-8498-EBB4A3D5D2DF}" presName="circ2Tx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358DF6E2-B241-42B8-B077-196CABEA0657}" type="pres">
      <dgm:prSet presAssocID="{EF70572B-9E37-4E17-89B2-3827133715AA}" presName="circ3" presStyleLbl="vennNode1" presStyleIdx="2" presStyleCnt="3"/>
      <dgm:spPr/>
    </dgm:pt>
    <dgm:pt modelId="{84B3E876-3915-4A3E-AFD5-7048DA0662BD}" type="pres">
      <dgm:prSet presAssocID="{EF70572B-9E37-4E17-89B2-3827133715AA}" presName="circ3Tx" presStyleLbl="revTx" presStyleIdx="0" presStyleCnt="0">
        <dgm:presLayoutVars>
          <dgm:chMax val="0"/>
          <dgm:chPref val="0"/>
          <dgm:bulletEnabled val="1"/>
        </dgm:presLayoutVars>
      </dgm:prSet>
      <dgm:spPr/>
    </dgm:pt>
  </dgm:ptLst>
  <dgm:cxnLst>
    <dgm:cxn modelId="{AF164808-B56F-4885-BCCB-77EF509F0D89}" type="presOf" srcId="{EF70572B-9E37-4E17-89B2-3827133715AA}" destId="{84B3E876-3915-4A3E-AFD5-7048DA0662BD}" srcOrd="1" destOrd="0" presId="urn:microsoft.com/office/officeart/2005/8/layout/venn1"/>
    <dgm:cxn modelId="{F4D0BD6C-A918-42B0-A659-FC2BA4FCEACD}" type="presOf" srcId="{CA32C9C6-FA48-4236-A80F-783DC7FDF937}" destId="{AD2C61C3-E581-48B5-A675-2D02620D6F3C}" srcOrd="0" destOrd="0" presId="urn:microsoft.com/office/officeart/2005/8/layout/venn1"/>
    <dgm:cxn modelId="{3C5CD44F-F6B1-42BB-9241-D65B3CD83E6C}" srcId="{C1CA1C7D-752A-4584-8D3F-A04D2BAD6058}" destId="{CA32C9C6-FA48-4236-A80F-783DC7FDF937}" srcOrd="0" destOrd="0" parTransId="{9D64A77D-8FF6-42F4-ACAE-C80E3CE36165}" sibTransId="{5ABE2C0B-2D0C-41B0-99FE-A922040AD1F0}"/>
    <dgm:cxn modelId="{339B1AA2-600D-4D72-8BDE-84E97EC385A2}" type="presOf" srcId="{C1CA1C7D-752A-4584-8D3F-A04D2BAD6058}" destId="{B5286C5D-BC51-420B-B77D-3BD5AAE62ACD}" srcOrd="0" destOrd="0" presId="urn:microsoft.com/office/officeart/2005/8/layout/venn1"/>
    <dgm:cxn modelId="{46B011A8-E6FD-43F6-A3B6-CE5B7751296D}" type="presOf" srcId="{EF70572B-9E37-4E17-89B2-3827133715AA}" destId="{358DF6E2-B241-42B8-B077-196CABEA0657}" srcOrd="0" destOrd="0" presId="urn:microsoft.com/office/officeart/2005/8/layout/venn1"/>
    <dgm:cxn modelId="{6AD9FFCC-7644-4F95-B62D-0DD5261448EF}" type="presOf" srcId="{BEA50DBE-F3CA-4A6E-8498-EBB4A3D5D2DF}" destId="{25D2EDD9-D718-4E98-8970-530B744AA90F}" srcOrd="1" destOrd="0" presId="urn:microsoft.com/office/officeart/2005/8/layout/venn1"/>
    <dgm:cxn modelId="{F564B6D3-487F-429A-9E81-5B1017821752}" type="presOf" srcId="{CA32C9C6-FA48-4236-A80F-783DC7FDF937}" destId="{D479A919-B692-4CF8-8D15-1A6432AE1878}" srcOrd="1" destOrd="0" presId="urn:microsoft.com/office/officeart/2005/8/layout/venn1"/>
    <dgm:cxn modelId="{6BF580DE-6A22-417E-B5F1-E0632889256A}" type="presOf" srcId="{BEA50DBE-F3CA-4A6E-8498-EBB4A3D5D2DF}" destId="{7B1088B7-8387-4B1D-8D94-3E44F0F7F97D}" srcOrd="0" destOrd="0" presId="urn:microsoft.com/office/officeart/2005/8/layout/venn1"/>
    <dgm:cxn modelId="{AD6A7CDF-86B6-4223-B236-F2DC08E5B05A}" srcId="{C1CA1C7D-752A-4584-8D3F-A04D2BAD6058}" destId="{BEA50DBE-F3CA-4A6E-8498-EBB4A3D5D2DF}" srcOrd="1" destOrd="0" parTransId="{B2D3EE0F-5012-4B43-8815-EF93503AAAED}" sibTransId="{D392F1ED-1AEA-4EA3-9F2E-910E8E50C06B}"/>
    <dgm:cxn modelId="{A9C7E0EB-260C-4D54-917A-4D1448CE72EA}" srcId="{C1CA1C7D-752A-4584-8D3F-A04D2BAD6058}" destId="{EF70572B-9E37-4E17-89B2-3827133715AA}" srcOrd="2" destOrd="0" parTransId="{FA2DD8B4-ED96-4160-81A5-E70B7316E70E}" sibTransId="{F0AE77E0-A5ED-491F-A8CC-E6816EBBBB3E}"/>
    <dgm:cxn modelId="{7CFB5B13-7E2B-4BFE-97B7-C6C3944B32CE}" type="presParOf" srcId="{B5286C5D-BC51-420B-B77D-3BD5AAE62ACD}" destId="{AD2C61C3-E581-48B5-A675-2D02620D6F3C}" srcOrd="0" destOrd="0" presId="urn:microsoft.com/office/officeart/2005/8/layout/venn1"/>
    <dgm:cxn modelId="{EA3B0CBB-F53B-48E5-8432-3A00D2E85113}" type="presParOf" srcId="{B5286C5D-BC51-420B-B77D-3BD5AAE62ACD}" destId="{D479A919-B692-4CF8-8D15-1A6432AE1878}" srcOrd="1" destOrd="0" presId="urn:microsoft.com/office/officeart/2005/8/layout/venn1"/>
    <dgm:cxn modelId="{8E742AAC-EA4F-47E3-9BA3-5E9F6FEC480F}" type="presParOf" srcId="{B5286C5D-BC51-420B-B77D-3BD5AAE62ACD}" destId="{7B1088B7-8387-4B1D-8D94-3E44F0F7F97D}" srcOrd="2" destOrd="0" presId="urn:microsoft.com/office/officeart/2005/8/layout/venn1"/>
    <dgm:cxn modelId="{ACC56879-7DBB-4AB6-9635-E82080839048}" type="presParOf" srcId="{B5286C5D-BC51-420B-B77D-3BD5AAE62ACD}" destId="{25D2EDD9-D718-4E98-8970-530B744AA90F}" srcOrd="3" destOrd="0" presId="urn:microsoft.com/office/officeart/2005/8/layout/venn1"/>
    <dgm:cxn modelId="{58B03BE2-3618-4CF9-ACEA-F52CAA0E2583}" type="presParOf" srcId="{B5286C5D-BC51-420B-B77D-3BD5AAE62ACD}" destId="{358DF6E2-B241-42B8-B077-196CABEA0657}" srcOrd="4" destOrd="0" presId="urn:microsoft.com/office/officeart/2005/8/layout/venn1"/>
    <dgm:cxn modelId="{246A71EA-6C27-4445-8F0D-2A0AE1B39013}" type="presParOf" srcId="{B5286C5D-BC51-420B-B77D-3BD5AAE62ACD}" destId="{84B3E876-3915-4A3E-AFD5-7048DA0662BD}" srcOrd="5" destOrd="0" presId="urn:microsoft.com/office/officeart/2005/8/layout/ven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D2C61C3-E581-48B5-A675-2D02620D6F3C}">
      <dsp:nvSpPr>
        <dsp:cNvPr id="0" name=""/>
        <dsp:cNvSpPr/>
      </dsp:nvSpPr>
      <dsp:spPr>
        <a:xfrm>
          <a:off x="3291707" y="86162"/>
          <a:ext cx="4135791" cy="4135791"/>
        </a:xfrm>
        <a:prstGeom prst="ellipse">
          <a:avLst/>
        </a:prstGeom>
        <a:solidFill>
          <a:schemeClr val="accent2">
            <a:alpha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800" kern="1200" dirty="0">
              <a:latin typeface="Consolas" panose="020B0609020204030204" pitchFamily="49" charset="0"/>
            </a:rPr>
            <a:t>Automatización / Reproductibilidad</a:t>
          </a:r>
        </a:p>
      </dsp:txBody>
      <dsp:txXfrm>
        <a:off x="3843146" y="809925"/>
        <a:ext cx="3032913" cy="1861105"/>
      </dsp:txXfrm>
    </dsp:sp>
    <dsp:sp modelId="{7B1088B7-8387-4B1D-8D94-3E44F0F7F97D}">
      <dsp:nvSpPr>
        <dsp:cNvPr id="0" name=""/>
        <dsp:cNvSpPr/>
      </dsp:nvSpPr>
      <dsp:spPr>
        <a:xfrm>
          <a:off x="4784039" y="2671031"/>
          <a:ext cx="4135791" cy="4135791"/>
        </a:xfrm>
        <a:prstGeom prst="ellipse">
          <a:avLst/>
        </a:prstGeom>
        <a:solidFill>
          <a:schemeClr val="accent2">
            <a:alpha val="50000"/>
            <a:hueOff val="7890950"/>
            <a:satOff val="-32738"/>
            <a:lumOff val="-607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800" kern="1200" dirty="0">
              <a:latin typeface="Consolas" panose="020B0609020204030204" pitchFamily="49" charset="0"/>
            </a:rPr>
            <a:t>Manipulación / Limpieza de datos</a:t>
          </a:r>
        </a:p>
      </dsp:txBody>
      <dsp:txXfrm>
        <a:off x="6048902" y="3739444"/>
        <a:ext cx="2481474" cy="2274685"/>
      </dsp:txXfrm>
    </dsp:sp>
    <dsp:sp modelId="{358DF6E2-B241-42B8-B077-196CABEA0657}">
      <dsp:nvSpPr>
        <dsp:cNvPr id="0" name=""/>
        <dsp:cNvSpPr/>
      </dsp:nvSpPr>
      <dsp:spPr>
        <a:xfrm>
          <a:off x="1799376" y="2671031"/>
          <a:ext cx="4135791" cy="4135791"/>
        </a:xfrm>
        <a:prstGeom prst="ellipse">
          <a:avLst/>
        </a:prstGeom>
        <a:solidFill>
          <a:schemeClr val="accent2">
            <a:alpha val="50000"/>
            <a:hueOff val="15781901"/>
            <a:satOff val="-65476"/>
            <a:lumOff val="-1215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800" kern="1200" dirty="0">
              <a:latin typeface="Consolas" panose="020B0609020204030204" pitchFamily="49" charset="0"/>
            </a:rPr>
            <a:t>Estadística / Análisis avanzado</a:t>
          </a:r>
        </a:p>
      </dsp:txBody>
      <dsp:txXfrm>
        <a:off x="2188830" y="3739444"/>
        <a:ext cx="2481474" cy="22746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enn1">
  <dgm:title val=""/>
  <dgm:desc val=""/>
  <dgm:catLst>
    <dgm:cat type="relationship" pri="28000"/>
    <dgm:cat type="convert" pri="19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clrData>
  <dgm:layoutNode name="compositeShape">
    <dgm:varLst>
      <dgm:chMax val="7"/>
      <dgm:dir/>
      <dgm:resizeHandles val="exact"/>
    </dgm:varLst>
    <dgm:choose name="Name0">
      <dgm:if name="Name1" axis="ch" ptType="node" func="cnt" op="equ" val="1">
        <dgm:alg type="composite">
          <dgm:param type="ar" val="1"/>
        </dgm:alg>
      </dgm:if>
      <dgm:if name="Name2" axis="ch" ptType="node" func="cnt" op="equ" val="2">
        <dgm:alg type="composite">
          <dgm:param type="ar" val="1.792"/>
        </dgm:alg>
      </dgm:if>
      <dgm:if name="Name3" axis="ch" ptType="node" func="cnt" op="equ" val="3">
        <dgm:alg type="composite">
          <dgm:param type="ar" val="1"/>
        </dgm:alg>
      </dgm:if>
      <dgm:if name="Name4" axis="ch" ptType="node" func="cnt" op="equ" val="4">
        <dgm:alg type="composite">
          <dgm:param type="ar" val="1"/>
        </dgm:alg>
      </dgm:if>
      <dgm:if name="Name5" axis="ch" ptType="node" func="cnt" op="equ" val="5">
        <dgm:alg type="composite">
          <dgm:param type="ar" val="1.4"/>
        </dgm:alg>
      </dgm:if>
      <dgm:if name="Name6" axis="ch" ptType="node" func="cnt" op="equ" val="6">
        <dgm:alg type="composite">
          <dgm:param type="ar" val="1.285"/>
        </dgm:alg>
      </dgm:if>
      <dgm:if name="Name7" axis="ch" ptType="node" func="cnt" op="equ" val="7">
        <dgm:alg type="composite">
          <dgm:param type="ar" val="1.359"/>
        </dgm:alg>
      </dgm:if>
      <dgm:else name="Name8">
        <dgm:alg type="composite">
          <dgm:param type="ar" val="1.359"/>
        </dgm:alg>
      </dgm:else>
    </dgm:choose>
    <dgm:shape xmlns:r="http://schemas.openxmlformats.org/officeDocument/2006/relationships" r:blip="">
      <dgm:adjLst/>
    </dgm:shape>
    <dgm:presOf/>
    <dgm:choose name="Name9">
      <dgm:if name="Name10" axis="ch" ptType="node" func="cnt" op="equ" val="1">
        <dgm:constrLst>
          <dgm:constr type="ctrX" for="ch" forName="circ1TxSh" refType="w" fact="0.5"/>
          <dgm:constr type="ctrY" for="ch" forName="circ1TxSh" refType="h" fact="0.5"/>
          <dgm:constr type="w" for="ch" forName="circ1TxSh" refType="w"/>
          <dgm:constr type="h" for="ch" forName="circ1TxSh" refType="h"/>
          <dgm:constr type="primFontSz" for="ch" ptType="node" op="equ"/>
        </dgm:constrLst>
      </dgm:if>
      <dgm:if name="Name11" axis="ch" ptType="node" func="cnt" op="equ" val="2">
        <dgm:constrLst>
          <dgm:constr type="ctrX" for="ch" forName="circ1" refType="w" fact="0.3"/>
          <dgm:constr type="ctrY" for="ch" forName="circ1" refType="h" fact="0.5"/>
          <dgm:constr type="w" for="ch" forName="circ1" refType="w" fact="0.555"/>
          <dgm:constr type="h" for="ch" forName="circ1" refType="h" fact="0.99456"/>
          <dgm:constr type="l" for="ch" forName="circ1Tx" refType="w" fact="0.1"/>
          <dgm:constr type="t" for="ch" forName="circ1Tx" refType="h" fact="0.12"/>
          <dgm:constr type="w" for="ch" forName="circ1Tx" refType="w" fact="0.32"/>
          <dgm:constr type="h" for="ch" forName="circ1Tx" refType="h" fact="0.76"/>
          <dgm:constr type="ctrX" for="ch" forName="circ2" refType="w" fact="0.7"/>
          <dgm:constr type="ctrY" for="ch" forName="circ2" refType="h" fact="0.5"/>
          <dgm:constr type="w" for="ch" forName="circ2" refType="w" fact="0.555"/>
          <dgm:constr type="h" for="ch" forName="circ2" refType="h" fact="0.99456"/>
          <dgm:constr type="l" for="ch" forName="circ2Tx" refType="w" fact="0.58"/>
          <dgm:constr type="t" for="ch" forName="circ2Tx" refType="h" fact="0.12"/>
          <dgm:constr type="w" for="ch" forName="circ2Tx" refType="w" fact="0.32"/>
          <dgm:constr type="h" for="ch" forName="circ2Tx" refType="h" fact="0.76"/>
          <dgm:constr type="primFontSz" for="ch" ptType="node" op="equ"/>
        </dgm:constrLst>
      </dgm:if>
      <dgm:if name="Name12" axis="ch" ptType="node" func="cnt" op="equ" val="3">
        <dgm:constrLst>
          <dgm:constr type="ctrX" for="ch" forName="circ1" refType="w" fact="0.5"/>
          <dgm:constr type="ctrY" for="ch" forName="circ1" refType="w" fact="0.25"/>
          <dgm:constr type="w" for="ch" forName="circ1" refType="w" fact="0.6"/>
          <dgm:constr type="h" for="ch" forName="circ1" refType="h" fact="0.6"/>
          <dgm:constr type="l" for="ch" forName="circ1Tx" refType="w" fact="0.28"/>
          <dgm:constr type="t" for="ch" forName="circ1Tx" refType="h" fact="0.055"/>
          <dgm:constr type="w" for="ch" forName="circ1Tx" refType="w" fact="0.44"/>
          <dgm:constr type="h" for="ch" forName="circ1Tx" refType="h" fact="0.27"/>
          <dgm:constr type="ctrX" for="ch" forName="circ2" refType="w" fact="0.7165"/>
          <dgm:constr type="ctrY" for="ch" forName="circ2" refType="w" fact="0.625"/>
          <dgm:constr type="w" for="ch" forName="circ2" refType="w" fact="0.6"/>
          <dgm:constr type="h" for="ch" forName="circ2" refType="h" fact="0.6"/>
          <dgm:constr type="l" for="ch" forName="circ2Tx" refType="w" fact="0.6"/>
          <dgm:constr type="t" for="ch" forName="circ2Tx" refType="h" fact="0.48"/>
          <dgm:constr type="w" for="ch" forName="circ2Tx" refType="w" fact="0.36"/>
          <dgm:constr type="h" for="ch" forName="circ2Tx" refType="h" fact="0.33"/>
          <dgm:constr type="ctrX" for="ch" forName="circ3" refType="w" fact="0.2835"/>
          <dgm:constr type="ctrY" for="ch" forName="circ3" refType="w" fact="0.625"/>
          <dgm:constr type="w" for="ch" forName="circ3" refType="w" fact="0.6"/>
          <dgm:constr type="h" for="ch" forName="circ3" refType="h" fact="0.6"/>
          <dgm:constr type="l" for="ch" forName="circ3Tx" refType="w" fact="0.04"/>
          <dgm:constr type="t" for="ch" forName="circ3Tx" refType="h" fact="0.48"/>
          <dgm:constr type="w" for="ch" forName="circ3Tx" refType="w" fact="0.36"/>
          <dgm:constr type="h" for="ch" forName="circ3Tx" refType="h" fact="0.33"/>
          <dgm:constr type="primFontSz" for="ch" ptType="node" op="equ"/>
        </dgm:constrLst>
      </dgm:if>
      <dgm:if name="Name13" axis="ch" ptType="node" func="cnt" op="equ" val="4">
        <dgm:constrLst>
          <dgm:constr type="ctrX" for="ch" forName="circ1" refType="w" fact="0.5"/>
          <dgm:constr type="ctrY" for="ch" forName="circ1" refType="w" fact="0.27"/>
          <dgm:constr type="w" for="ch" forName="circ1" refType="w" fact="0.52"/>
          <dgm:constr type="h" for="ch" forName="circ1" refType="h" fact="0.52"/>
          <dgm:constr type="l" for="ch" forName="circ1Tx" refType="w" fact="0.3"/>
          <dgm:constr type="t" for="ch" forName="circ1Tx" refType="h" fact="0.08"/>
          <dgm:constr type="w" for="ch" forName="circ1Tx" refType="w" fact="0.4"/>
          <dgm:constr type="h" for="ch" forName="circ1Tx" refType="h" fact="0.165"/>
          <dgm:constr type="ctrX" for="ch" forName="circ2" refType="w" fact="0.73"/>
          <dgm:constr type="ctrY" for="ch" forName="circ2" refType="w" fact="0.5"/>
          <dgm:constr type="w" for="ch" forName="circ2" refType="w" fact="0.52"/>
          <dgm:constr type="h" for="ch" forName="circ2" refType="h" fact="0.52"/>
          <dgm:constr type="r" for="ch" forName="circ2Tx" refType="w" fact="0.95"/>
          <dgm:constr type="t" for="ch" forName="circ2Tx" refType="h" fact="0.3"/>
          <dgm:constr type="w" for="ch" forName="circ2Tx" refType="w" fact="0.2"/>
          <dgm:constr type="h" for="ch" forName="circ2Tx" refType="h" fact="0.4"/>
          <dgm:constr type="ctrX" for="ch" forName="circ3" refType="w" fact="0.5"/>
          <dgm:constr type="ctrY" for="ch" forName="circ3" refType="w" fact="0.73"/>
          <dgm:constr type="w" for="ch" forName="circ3" refType="w" fact="0.52"/>
          <dgm:constr type="h" for="ch" forName="circ3" refType="h" fact="0.52"/>
          <dgm:constr type="l" for="ch" forName="circ3Tx" refType="w" fact="0.3"/>
          <dgm:constr type="b" for="ch" forName="circ3Tx" refType="h" fact="0.92"/>
          <dgm:constr type="w" for="ch" forName="circ3Tx" refType="w" fact="0.4"/>
          <dgm:constr type="h" for="ch" forName="circ3Tx" refType="h" fact="0.165"/>
          <dgm:constr type="ctrX" for="ch" forName="circ4" refType="w" fact="0.27"/>
          <dgm:constr type="ctrY" for="ch" forName="circ4" refType="h" fact="0.5"/>
          <dgm:constr type="w" for="ch" forName="circ4" refType="w" fact="0.52"/>
          <dgm:constr type="h" for="ch" forName="circ4" refType="h" fact="0.52"/>
          <dgm:constr type="l" for="ch" forName="circ4Tx" refType="w" fact="0.05"/>
          <dgm:constr type="t" for="ch" forName="circ4Tx" refType="h" fact="0.3"/>
          <dgm:constr type="w" for="ch" forName="circ4Tx" refType="w" fact="0.2"/>
          <dgm:constr type="h" for="ch" forName="circ4Tx" refType="h" fact="0.4"/>
          <dgm:constr type="primFontSz" for="ch" ptType="node" op="equ"/>
        </dgm:constrLst>
      </dgm:if>
      <dgm:if name="Name14" axis="ch" ptType="node" func="cnt" op="equ" val="5">
        <dgm:constrLst>
          <dgm:constr type="ctrX" for="ch" forName="circ1" refType="w" fact="0.5"/>
          <dgm:constr type="ctrY" for="ch" forName="circ1" refType="h" fact="0.46"/>
          <dgm:constr type="w" for="ch" forName="circ1" refType="w" fact="0.25"/>
          <dgm:constr type="h" for="ch" forName="circ1" refType="h" fact="0.35"/>
          <dgm:constr type="l" for="ch" forName="circ1Tx" refType="w" fact="0.355"/>
          <dgm:constr type="t" for="ch" forName="circ1Tx"/>
          <dgm:constr type="w" for="ch" forName="circ1Tx" refType="w" fact="0.29"/>
          <dgm:constr type="h" for="ch" forName="circ1Tx" refType="h" fact="0.235"/>
          <dgm:constr type="ctrX" for="ch" forName="circ2" refType="w" fact="0.5951"/>
          <dgm:constr type="ctrY" for="ch" forName="circ2" refType="h" fact="0.5567"/>
          <dgm:constr type="w" for="ch" forName="circ2" refType="w" fact="0.25"/>
          <dgm:constr type="h" for="ch" forName="circ2" refType="h" fact="0.35"/>
          <dgm:constr type="l" for="ch" forName="circ2Tx" refType="w" fact="0.74"/>
          <dgm:constr type="t" for="ch" forName="circ2Tx" refType="h" fact="0.31"/>
          <dgm:constr type="w" for="ch" forName="circ2Tx" refType="w" fact="0.26"/>
          <dgm:constr type="h" for="ch" forName="circ2Tx" refType="h" fact="0.255"/>
          <dgm:constr type="ctrX" for="ch" forName="circ3" refType="w" fact="0.5588"/>
          <dgm:constr type="ctrY" for="ch" forName="circ3" refType="h" fact="0.7133"/>
          <dgm:constr type="w" for="ch" forName="circ3" refType="w" fact="0.25"/>
          <dgm:constr type="h" for="ch" forName="circ3" refType="h" fact="0.35"/>
          <dgm:constr type="l" for="ch" forName="circ3Tx" refType="w" fact="0.7"/>
          <dgm:constr type="t" for="ch" forName="circ3Tx" refType="h" fact="0.745"/>
          <dgm:constr type="w" for="ch" forName="circ3Tx" refType="w" fact="0.26"/>
          <dgm:constr type="h" for="ch" forName="circ3Tx" refType="h" fact="0.255"/>
          <dgm:constr type="ctrX" for="ch" forName="circ4" refType="w" fact="0.4412"/>
          <dgm:constr type="ctrY" for="ch" forName="circ4" refType="h" fact="0.7133"/>
          <dgm:constr type="w" for="ch" forName="circ4" refType="w" fact="0.25"/>
          <dgm:constr type="h" for="ch" forName="circ4" refType="h" fact="0.35"/>
          <dgm:constr type="l" for="ch" forName="circ4Tx" refType="w" fact="0.04"/>
          <dgm:constr type="t" for="ch" forName="circ4Tx" refType="h" fact="0.745"/>
          <dgm:constr type="w" for="ch" forName="circ4Tx" refType="w" fact="0.26"/>
          <dgm:constr type="h" for="ch" forName="circ4Tx" refType="h" fact="0.255"/>
          <dgm:constr type="ctrX" for="ch" forName="circ5" refType="w" fact="0.4049"/>
          <dgm:constr type="ctrY" for="ch" forName="circ5" refType="h" fact="0.5567"/>
          <dgm:constr type="w" for="ch" forName="circ5" refType="w" fact="0.25"/>
          <dgm:constr type="h" for="ch" forName="circ5" refType="h" fact="0.35"/>
          <dgm:constr type="l" for="ch" forName="circ5Tx"/>
          <dgm:constr type="t" for="ch" forName="circ5Tx" refType="h" fact="0.31"/>
          <dgm:constr type="w" for="ch" forName="circ5Tx" refType="w" fact="0.26"/>
          <dgm:constr type="h" for="ch" forName="circ5Tx" refType="h" fact="0.255"/>
          <dgm:constr type="primFontSz" for="ch" ptType="node" op="equ"/>
        </dgm:constrLst>
      </dgm:if>
      <dgm:if name="Name15" axis="ch" ptType="node" func="cnt" op="equ" val="6">
        <dgm:constrLst>
          <dgm:constr type="ctrX" for="ch" forName="circ1" refType="w" fact="0.5"/>
          <dgm:constr type="ctrY" for="ch" forName="circ1" refType="h" fact="0.3844"/>
          <dgm:constr type="w" for="ch" forName="circ1" refType="w" fact="0.24"/>
          <dgm:constr type="h" for="ch" forName="circ1" refType="h" fact="0.3084"/>
          <dgm:constr type="l" for="ch" forName="circ1Tx" refType="w" fact="0.35"/>
          <dgm:constr type="t" for="ch" forName="circ1Tx"/>
          <dgm:constr type="w" for="ch" forName="circ1Tx" refType="w" fact="0.3"/>
          <dgm:constr type="h" for="ch" forName="circ1Tx" refType="h" fact="0.21"/>
          <dgm:constr type="ctrX" for="ch" forName="circ2" refType="w" fact="0.5779"/>
          <dgm:constr type="ctrY" for="ch" forName="circ2" refType="h" fact="0.4422"/>
          <dgm:constr type="w" for="ch" forName="circ2" refType="w" fact="0.24"/>
          <dgm:constr type="h" for="ch" forName="circ2" refType="h" fact="0.3084"/>
          <dgm:constr type="l" for="ch" forName="circ2Tx" refType="w" fact="0.7157"/>
          <dgm:constr type="t" for="ch" forName="circ2Tx" refType="h" fact="0.2"/>
          <dgm:constr type="w" for="ch" forName="circ2Tx" refType="w" fact="0.2843"/>
          <dgm:constr type="h" for="ch" forName="circ2Tx" refType="h" fact="0.23"/>
          <dgm:constr type="ctrX" for="ch" forName="circ3" refType="w" fact="0.5779"/>
          <dgm:constr type="ctrY" for="ch" forName="circ3" refType="h" fact="0.5578"/>
          <dgm:constr type="w" for="ch" forName="circ3" refType="w" fact="0.24"/>
          <dgm:constr type="h" for="ch" forName="circ3" refType="h" fact="0.3084"/>
          <dgm:constr type="l" for="ch" forName="circ3Tx" refType="w" fact="0.7157"/>
          <dgm:constr type="t" for="ch" forName="circ3Tx" refType="h" fact="0.543"/>
          <dgm:constr type="w" for="ch" forName="circ3Tx" refType="w" fact="0.2843"/>
          <dgm:constr type="h" for="ch" forName="circ3Tx" refType="h" fact="0.257"/>
          <dgm:constr type="ctrX" for="ch" forName="circ4" refType="w" fact="0.5"/>
          <dgm:constr type="ctrY" for="ch" forName="circ4" refType="h" fact="0.6157"/>
          <dgm:constr type="w" for="ch" forName="circ4" refType="w" fact="0.24"/>
          <dgm:constr type="h" for="ch" forName="circ4" refType="h" fact="0.3084"/>
          <dgm:constr type="l" for="ch" forName="circ4Tx" refType="w" fact="0.35"/>
          <dgm:constr type="t" for="ch" forName="circ4Tx" refType="h" fact="0.79"/>
          <dgm:constr type="w" for="ch" forName="circ4Tx" refType="w" fact="0.3"/>
          <dgm:constr type="h" for="ch" forName="circ4Tx" refType="h" fact="0.21"/>
          <dgm:constr type="ctrX" for="ch" forName="circ5" refType="w" fact="0.4221"/>
          <dgm:constr type="ctrY" for="ch" forName="circ5" refType="h" fact="0.5578"/>
          <dgm:constr type="w" for="ch" forName="circ5" refType="w" fact="0.24"/>
          <dgm:constr type="h" for="ch" forName="circ5" refType="h" fact="0.3084"/>
          <dgm:constr type="l" for="ch" forName="circ5Tx" refType="w" fact="0"/>
          <dgm:constr type="t" for="ch" forName="circ5Tx" refType="h" fact="0.543"/>
          <dgm:constr type="w" for="ch" forName="circ5Tx" refType="w" fact="0.2843"/>
          <dgm:constr type="h" for="ch" forName="circ5Tx" refType="h" fact="0.257"/>
          <dgm:constr type="ctrX" for="ch" forName="circ6" refType="w" fact="0.4221"/>
          <dgm:constr type="ctrY" for="ch" forName="circ6" refType="h" fact="0.4422"/>
          <dgm:constr type="w" for="ch" forName="circ6" refType="w" fact="0.24"/>
          <dgm:constr type="h" for="ch" forName="circ6" refType="h" fact="0.3084"/>
          <dgm:constr type="l" for="ch" forName="circ6Tx" refType="w" fact="0"/>
          <dgm:constr type="t" for="ch" forName="circ6Tx" refType="h" fact="0.2"/>
          <dgm:constr type="w" for="ch" forName="circ6Tx" refType="w" fact="0.2843"/>
          <dgm:constr type="h" for="ch" forName="circ6Tx" refType="h" fact="0.257"/>
          <dgm:constr type="primFontSz" for="ch" ptType="node" op="equ"/>
        </dgm:constrLst>
      </dgm:if>
      <dgm:else name="Name16">
        <dgm:constrLst>
          <dgm:constr type="ctrX" for="ch" forName="circ1" refType="w" fact="0.5"/>
          <dgm:constr type="ctrY" for="ch" forName="circ1" refType="h" fact="0.4177"/>
          <dgm:constr type="w" for="ch" forName="circ1" refType="w" fact="0.24"/>
          <dgm:constr type="h" for="ch" forName="circ1" refType="h" fact="0.3262"/>
          <dgm:constr type="l" for="ch" forName="circ1Tx" refType="w" fact="0.3625"/>
          <dgm:constr type="t" for="ch" forName="circ1Tx"/>
          <dgm:constr type="w" for="ch" forName="circ1Tx" refType="w" fact="0.275"/>
          <dgm:constr type="h" for="ch" forName="circ1Tx" refType="h" fact="0.2"/>
          <dgm:constr type="ctrX" for="ch" forName="circ2" refType="w" fact="0.5704"/>
          <dgm:constr type="ctrY" for="ch" forName="circ2" refType="h" fact="0.4637"/>
          <dgm:constr type="w" for="ch" forName="circ2" refType="w" fact="0.24"/>
          <dgm:constr type="h" for="ch" forName="circ2" refType="h" fact="0.3262"/>
          <dgm:constr type="l" for="ch" forName="circ2Tx" refType="w" fact="0.72"/>
          <dgm:constr type="t" for="ch" forName="circ2Tx" refType="h" fact="0.19"/>
          <dgm:constr type="w" for="ch" forName="circ2Tx" refType="w" fact="0.26"/>
          <dgm:constr type="h" for="ch" forName="circ2Tx" refType="h" fact="0.22"/>
          <dgm:constr type="ctrX" for="ch" forName="circ3" refType="w" fact="0.5877"/>
          <dgm:constr type="ctrY" for="ch" forName="circ3" refType="h" fact="0.5672"/>
          <dgm:constr type="w" for="ch" forName="circ3" refType="w" fact="0.24"/>
          <dgm:constr type="h" for="ch" forName="circ3" refType="h" fact="0.3262"/>
          <dgm:constr type="l" for="ch" forName="circ3Tx" refType="w" fact="0.745"/>
          <dgm:constr type="t" for="ch" forName="circ3Tx" refType="h" fact="0.47"/>
          <dgm:constr type="w" for="ch" forName="circ3Tx" refType="w" fact="0.255"/>
          <dgm:constr type="h" for="ch" forName="circ3Tx" refType="h" fact="0.235"/>
          <dgm:constr type="ctrX" for="ch" forName="circ4" refType="w" fact="0.539"/>
          <dgm:constr type="ctrY" for="ch" forName="circ4" refType="h" fact="0.6502"/>
          <dgm:constr type="w" for="ch" forName="circ4" refType="w" fact="0.24"/>
          <dgm:constr type="h" for="ch" forName="circ4" refType="h" fact="0.3262"/>
          <dgm:constr type="l" for="ch" forName="circ4Tx" refType="w" fact="0.635"/>
          <dgm:constr type="t" for="ch" forName="circ4Tx" refType="h" fact="0.785"/>
          <dgm:constr type="w" for="ch" forName="circ4Tx" refType="w" fact="0.275"/>
          <dgm:constr type="h" for="ch" forName="circ4Tx" refType="h" fact="0.215"/>
          <dgm:constr type="ctrX" for="ch" forName="circ5" refType="w" fact="0.461"/>
          <dgm:constr type="ctrY" for="ch" forName="circ5" refType="h" fact="0.6502"/>
          <dgm:constr type="w" for="ch" forName="circ5" refType="w" fact="0.24"/>
          <dgm:constr type="h" for="ch" forName="circ5" refType="h" fact="0.3262"/>
          <dgm:constr type="l" for="ch" forName="circ5Tx" refType="w" fact="0.09"/>
          <dgm:constr type="t" for="ch" forName="circ5Tx" refType="h" fact="0.785"/>
          <dgm:constr type="w" for="ch" forName="circ5Tx" refType="w" fact="0.275"/>
          <dgm:constr type="h" for="ch" forName="circ5Tx" refType="h" fact="0.215"/>
          <dgm:constr type="ctrX" for="ch" forName="circ6" refType="w" fact="0.4123"/>
          <dgm:constr type="ctrY" for="ch" forName="circ6" refType="h" fact="0.5672"/>
          <dgm:constr type="w" for="ch" forName="circ6" refType="w" fact="0.24"/>
          <dgm:constr type="h" for="ch" forName="circ6" refType="h" fact="0.3262"/>
          <dgm:constr type="l" for="ch" forName="circ6Tx"/>
          <dgm:constr type="t" for="ch" forName="circ6Tx" refType="h" fact="0.47"/>
          <dgm:constr type="w" for="ch" forName="circ6Tx" refType="w" fact="0.255"/>
          <dgm:constr type="h" for="ch" forName="circ6Tx" refType="h" fact="0.235"/>
          <dgm:constr type="ctrX" for="ch" forName="circ7" refType="w" fact="0.4296"/>
          <dgm:constr type="ctrY" for="ch" forName="circ7" refType="h" fact="0.4637"/>
          <dgm:constr type="w" for="ch" forName="circ7" refType="w" fact="0.24"/>
          <dgm:constr type="h" for="ch" forName="circ7" refType="h" fact="0.3262"/>
          <dgm:constr type="l" for="ch" forName="circ7Tx" refType="w" fact="0.02"/>
          <dgm:constr type="t" for="ch" forName="circ7Tx" refType="h" fact="0.19"/>
          <dgm:constr type="w" for="ch" forName="circ7Tx" refType="w" fact="0.26"/>
          <dgm:constr type="h" for="ch" forName="circ7Tx" refType="h" fact="0.22"/>
          <dgm:constr type="primFontSz" for="ch" ptType="node" op="equ"/>
        </dgm:constrLst>
      </dgm:else>
    </dgm:choose>
    <dgm:ruleLst/>
    <dgm:forEach name="Name17" axis="ch" ptType="node" cnt="1">
      <dgm:choose name="Name18">
        <dgm:if name="Name19" axis="root ch" ptType="all node" func="cnt" op="equ" val="1">
          <dgm:layoutNode name="circ1TxSh" styleLbl="vennNode1">
            <dgm:alg type="tx">
              <dgm:param type="txAnchorHorzCh" val="ctr"/>
              <dgm:param type="txAnchorVertCh" val="mid"/>
            </dgm:alg>
            <dgm:shape xmlns:r="http://schemas.openxmlformats.org/officeDocument/2006/relationships" type="ellipse" r:blip="">
              <dgm:adjLst/>
            </dgm:shape>
            <dgm:choose name="Name20">
              <dgm:if name="Name21" func="var" arg="dir" op="equ" val="norm">
                <dgm:choose name="Name22">
                  <dgm:if name="Name23" axis="root ch" ptType="all node" func="cnt" op="lte" val="4">
                    <dgm:presOf axis="desOrSelf" ptType="node"/>
                  </dgm:if>
                  <dgm:else name="Name24">
                    <dgm:presOf/>
                  </dgm:else>
                </dgm:choose>
              </dgm:if>
              <dgm:else name="Name25">
                <dgm:choose name="Name26">
                  <dgm:if name="Name27" axis="root ch" ptType="all node" func="cnt" op="equ" val="2">
                    <dgm:presOf axis="root ch desOrSelf" ptType="all node node" st="1 2 1" cnt="1 1 0"/>
                  </dgm:if>
                  <dgm:else name="Name28">
                    <dgm:presOf axis="desOrSelf" ptType="node"/>
                  </dgm:else>
                </dgm:choose>
              </dgm:else>
            </dgm:choose>
            <dgm:constrLst>
              <dgm:constr type="tMarg"/>
              <dgm:constr type="bMarg"/>
              <dgm:constr type="lMarg"/>
              <dgm:constr type="rMarg"/>
              <dgm:constr type="primFontSz" val="65"/>
            </dgm:constrLst>
            <dgm:ruleLst>
              <dgm:rule type="primFontSz" val="5" fact="NaN" max="NaN"/>
            </dgm:ruleLst>
          </dgm:layoutNode>
        </dgm:if>
        <dgm:else name="Name29">
          <dgm:layoutNode name="circ1" styleLbl="vennNode1">
            <dgm:alg type="sp"/>
            <dgm:shape xmlns:r="http://schemas.openxmlformats.org/officeDocument/2006/relationships" type="ellipse" r:blip="">
              <dgm:adjLst/>
            </dgm:shape>
            <dgm:choose name="Name30">
              <dgm:if name="Name31" func="var" arg="dir" op="equ" val="norm">
                <dgm:choose name="Name32">
                  <dgm:if name="Name33" axis="root ch" ptType="all node" func="cnt" op="lte" val="4">
                    <dgm:presOf axis="desOrSelf" ptType="node"/>
                  </dgm:if>
                  <dgm:else name="Name34">
                    <dgm:presOf/>
                  </dgm:else>
                </dgm:choose>
              </dgm:if>
              <dgm:else name="Name35">
                <dgm:choose name="Name36">
                  <dgm:if name="Name37" axis="root ch" ptType="all node" func="cnt" op="equ" val="2">
                    <dgm:presOf axis="root ch desOrSelf" ptType="all node node" st="1 2 1" cnt="1 1 0"/>
                  </dgm:if>
                  <dgm:else name="Name38">
                    <dgm:choose name="Name39">
                      <dgm:if name="Name40" axis="root ch" ptType="all node" func="cnt" op="lte" val="4">
                        <dgm:presOf axis="desOrSelf" ptType="node"/>
                      </dgm:if>
                      <dgm:else name="Name41">
                        <dgm:presOf/>
                      </dgm:else>
                    </dgm:choose>
                  </dgm:else>
                </dgm:choose>
              </dgm:else>
            </dgm:choose>
            <dgm:constrLst/>
            <dgm:ruleLst/>
          </dgm:layoutNode>
          <dgm:layoutNode name="circ1Tx" styleLbl="revTx">
            <dgm:varLst>
              <dgm:chMax val="0"/>
              <dgm:chPref val="0"/>
              <dgm:bulletEnabled val="1"/>
            </dgm:varLst>
            <dgm:alg type="tx">
              <dgm:param type="txAnchorHorzCh" val="ctr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choose name="Name42">
              <dgm:if name="Name43" func="var" arg="dir" op="equ" val="norm">
                <dgm:presOf axis="desOrSelf" ptType="node"/>
              </dgm:if>
              <dgm:else name="Name44">
                <dgm:choose name="Name45">
                  <dgm:if name="Name46" axis="root ch" ptType="all node" func="cnt" op="equ" val="2">
                    <dgm:presOf axis="root ch desOrSelf" ptType="all node node" st="1 2 1" cnt="1 1 0"/>
                  </dgm:if>
                  <dgm:else name="Name47">
                    <dgm:presOf axis="desOrSelf" ptType="node"/>
                  </dgm:else>
                </dgm:choose>
              </dgm:else>
            </dgm:choose>
            <dgm:constrLst>
              <dgm:constr type="tMarg"/>
              <dgm:constr type="bMarg"/>
              <dgm:constr type="lMarg"/>
              <dgm:constr type="rMarg"/>
              <dgm:constr type="primFontSz" val="65"/>
            </dgm:constrLst>
            <dgm:ruleLst>
              <dgm:rule type="primFontSz" val="5" fact="NaN" max="NaN"/>
            </dgm:ruleLst>
          </dgm:layoutNode>
        </dgm:else>
      </dgm:choose>
    </dgm:forEach>
    <dgm:forEach name="Name48" axis="ch" ptType="node" st="2" cnt="1">
      <dgm:layoutNode name="circ2" styleLbl="vennNode1">
        <dgm:alg type="sp"/>
        <dgm:shape xmlns:r="http://schemas.openxmlformats.org/officeDocument/2006/relationships" type="ellipse" r:blip="">
          <dgm:adjLst/>
        </dgm:shape>
        <dgm:choose name="Name49">
          <dgm:if name="Name50" func="var" arg="dir" op="equ" val="norm">
            <dgm:choose name="Name51">
              <dgm:if name="Name52" axis="root ch" ptType="all node" func="cnt" op="lte" val="4">
                <dgm:presOf axis="desOrSelf" ptType="node"/>
              </dgm:if>
              <dgm:else name="Name53">
                <dgm:presOf/>
              </dgm:else>
            </dgm:choose>
          </dgm:if>
          <dgm:else name="Name54">
            <dgm:choose name="Name55">
              <dgm:if name="Name56" axis="root ch" ptType="all node" func="cnt" op="equ" val="2">
                <dgm:presOf axis="root ch desOrSelf" ptType="all node node" st="1 1 1" cnt="1 1 0"/>
              </dgm:if>
              <dgm:if name="Name57" axis="root ch" ptType="all node" func="cnt" op="equ" val="3">
                <dgm:presOf axis="root ch desOrSelf" ptType="all node node" st="1 3 1" cnt="1 1 0"/>
              </dgm:if>
              <dgm:if name="Name58" axis="root ch" ptType="all node" func="cnt" op="equ" val="4">
                <dgm:presOf axis="root ch desOrSelf" ptType="all node node" st="1 4 1" cnt="1 1 0"/>
              </dgm:if>
              <dgm:else name="Name59">
                <dgm:presOf/>
              </dgm:else>
            </dgm:choose>
          </dgm:else>
        </dgm:choose>
        <dgm:constrLst/>
        <dgm:ruleLst/>
      </dgm:layoutNode>
      <dgm:layoutNode name="circ2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60">
          <dgm:if name="Name61" func="var" arg="dir" op="equ" val="norm">
            <dgm:presOf axis="desOrSelf" ptType="node"/>
          </dgm:if>
          <dgm:else name="Name62">
            <dgm:choose name="Name63">
              <dgm:if name="Name64" axis="root ch" ptType="all node" func="cnt" op="equ" val="2">
                <dgm:presOf axis="root ch desOrSelf" ptType="all node node" st="1 1 1" cnt="1 1 0"/>
              </dgm:if>
              <dgm:if name="Name65" axis="root ch" ptType="all node" func="cnt" op="equ" val="3">
                <dgm:presOf axis="root ch desOrSelf" ptType="all node node" st="1 3 1" cnt="1 1 0"/>
              </dgm:if>
              <dgm:if name="Name66" axis="root ch" ptType="all node" func="cnt" op="equ" val="4">
                <dgm:presOf axis="root ch desOrSelf" ptType="all node node" st="1 4 1" cnt="1 1 0"/>
              </dgm:if>
              <dgm:if name="Name67" axis="root ch" ptType="all node" func="cnt" op="equ" val="5">
                <dgm:presOf axis="root ch desOrSelf" ptType="all node node" st="1 5 1" cnt="1 1 0"/>
              </dgm:if>
              <dgm:if name="Name68" axis="root ch" ptType="all node" func="cnt" op="equ" val="6">
                <dgm:presOf axis="root ch desOrSelf" ptType="all node node" st="1 6 1" cnt="1 1 0"/>
              </dgm:if>
              <dgm:else name="Name69">
                <dgm:presOf axis="root ch desOrSelf" ptType="all node node" st="1 7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70" axis="ch" ptType="node" st="3" cnt="1">
      <dgm:layoutNode name="circ3" styleLbl="vennNode1">
        <dgm:alg type="sp"/>
        <dgm:shape xmlns:r="http://schemas.openxmlformats.org/officeDocument/2006/relationships" type="ellipse" r:blip="">
          <dgm:adjLst/>
        </dgm:shape>
        <dgm:choose name="Name71">
          <dgm:if name="Name72" func="var" arg="dir" op="equ" val="norm">
            <dgm:choose name="Name73">
              <dgm:if name="Name74" axis="root ch" ptType="all node" func="cnt" op="lte" val="4">
                <dgm:presOf axis="desOrSelf" ptType="node"/>
              </dgm:if>
              <dgm:else name="Name75">
                <dgm:presOf/>
              </dgm:else>
            </dgm:choose>
          </dgm:if>
          <dgm:else name="Name76">
            <dgm:choose name="Name77">
              <dgm:if name="Name78" axis="root ch" ptType="all node" func="cnt" op="equ" val="3">
                <dgm:presOf axis="root ch desOrSelf" ptType="all node node" st="1 2 1" cnt="1 1 0"/>
              </dgm:if>
              <dgm:if name="Name79" axis="root ch" ptType="all node" func="cnt" op="equ" val="4">
                <dgm:presOf axis="root ch desOrSelf" ptType="all node node" st="1 3 1" cnt="1 1 0"/>
              </dgm:if>
              <dgm:else name="Name80">
                <dgm:presOf/>
              </dgm:else>
            </dgm:choose>
          </dgm:else>
        </dgm:choose>
        <dgm:constrLst/>
        <dgm:ruleLst/>
      </dgm:layoutNode>
      <dgm:layoutNode name="circ3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81">
          <dgm:if name="Name82" func="var" arg="dir" op="equ" val="norm">
            <dgm:presOf axis="desOrSelf" ptType="node"/>
          </dgm:if>
          <dgm:else name="Name83">
            <dgm:choose name="Name84">
              <dgm:if name="Name85" axis="root ch" ptType="all node" func="cnt" op="equ" val="3">
                <dgm:presOf axis="root ch desOrSelf" ptType="all node node" st="1 2 1" cnt="1 1 0"/>
              </dgm:if>
              <dgm:if name="Name86" axis="root ch" ptType="all node" func="cnt" op="equ" val="4">
                <dgm:presOf axis="root ch desOrSelf" ptType="all node node" st="1 3 1" cnt="1 1 0"/>
              </dgm:if>
              <dgm:if name="Name87" axis="root ch" ptType="all node" func="cnt" op="equ" val="5">
                <dgm:presOf axis="root ch desOrSelf" ptType="all node node" st="1 4 1" cnt="1 1 0"/>
              </dgm:if>
              <dgm:if name="Name88" axis="root ch" ptType="all node" func="cnt" op="equ" val="6">
                <dgm:presOf axis="root ch desOrSelf" ptType="all node node" st="1 5 1" cnt="1 1 0"/>
              </dgm:if>
              <dgm:else name="Name89">
                <dgm:presOf axis="root ch desOrSelf" ptType="all node node" st="1 6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circ4" styleLbl="vennNode1">
        <dgm:alg type="sp"/>
        <dgm:shape xmlns:r="http://schemas.openxmlformats.org/officeDocument/2006/relationships" type="ellipse" r:blip="">
          <dgm:adjLst/>
        </dgm:shape>
        <dgm:choose name="Name91">
          <dgm:if name="Name92" func="var" arg="dir" op="equ" val="norm">
            <dgm:choose name="Name93">
              <dgm:if name="Name94" axis="root ch" ptType="all node" func="cnt" op="lte" val="4">
                <dgm:presOf axis="desOrSelf" ptType="node"/>
              </dgm:if>
              <dgm:else name="Name95">
                <dgm:presOf/>
              </dgm:else>
            </dgm:choose>
          </dgm:if>
          <dgm:else name="Name96">
            <dgm:choose name="Name97">
              <dgm:if name="Name98" axis="root ch" ptType="all node" func="cnt" op="equ" val="4">
                <dgm:presOf axis="root ch desOrSelf" ptType="all node node" st="1 2 1" cnt="1 1 0"/>
              </dgm:if>
              <dgm:else name="Name99">
                <dgm:presOf/>
              </dgm:else>
            </dgm:choose>
          </dgm:else>
        </dgm:choose>
        <dgm:constrLst/>
        <dgm:ruleLst/>
      </dgm:layoutNode>
      <dgm:layoutNode name="circ4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00">
          <dgm:if name="Name101" func="var" arg="dir" op="equ" val="norm">
            <dgm:presOf axis="desOrSelf" ptType="node"/>
          </dgm:if>
          <dgm:else name="Name102">
            <dgm:choose name="Name103">
              <dgm:if name="Name104" axis="root ch" ptType="all node" func="cnt" op="equ" val="4">
                <dgm:presOf axis="root ch desOrSelf" ptType="all node node" st="1 2 1" cnt="1 1 0"/>
              </dgm:if>
              <dgm:if name="Name105" axis="root ch" ptType="all node" func="cnt" op="equ" val="5">
                <dgm:presOf axis="root ch desOrSelf" ptType="all node node" st="1 3 1" cnt="1 1 0"/>
              </dgm:if>
              <dgm:if name="Name106" axis="root ch" ptType="all node" func="cnt" op="equ" val="6">
                <dgm:presOf axis="root ch desOrSelf" ptType="all node node" st="1 4 1" cnt="1 1 0"/>
              </dgm:if>
              <dgm:else name="Name107">
                <dgm:presOf axis="root ch desOrSelf" ptType="all node node" st="1 5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08" axis="ch" ptType="node" st="5" cnt="1">
      <dgm:layoutNode name="circ5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5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09">
          <dgm:if name="Name110" func="var" arg="dir" op="equ" val="norm">
            <dgm:presOf axis="desOrSelf" ptType="node"/>
          </dgm:if>
          <dgm:else name="Name111">
            <dgm:choose name="Name112">
              <dgm:if name="Name113" axis="root ch" ptType="all node" func="cnt" op="equ" val="5">
                <dgm:presOf axis="root ch desOrSelf" ptType="all node node" st="1 2 1" cnt="1 1 0"/>
              </dgm:if>
              <dgm:if name="Name114" axis="root ch" ptType="all node" func="cnt" op="equ" val="6">
                <dgm:presOf axis="root ch desOrSelf" ptType="all node node" st="1 3 1" cnt="1 1 0"/>
              </dgm:if>
              <dgm:else name="Name115">
                <dgm:presOf axis="root ch desOrSelf" ptType="all node node" st="1 4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16" axis="ch" ptType="node" st="6" cnt="1">
      <dgm:layoutNode name="circ6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6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17">
          <dgm:if name="Name118" func="var" arg="dir" op="equ" val="norm">
            <dgm:presOf axis="desOrSelf" ptType="node"/>
          </dgm:if>
          <dgm:else name="Name119">
            <dgm:choose name="Name120">
              <dgm:if name="Name121" axis="root ch" ptType="all node" func="cnt" op="equ" val="6">
                <dgm:presOf axis="root ch desOrSelf" ptType="all node node" st="1 2 1" cnt="1 1 0"/>
              </dgm:if>
              <dgm:else name="Name122">
                <dgm:presOf axis="root ch desOrSelf" ptType="all node node" st="1 3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23" axis="ch" ptType="node" st="7" cnt="1">
      <dgm:layoutNode name="circ7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7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24">
          <dgm:if name="Name125" func="var" arg="dir" op="equ" val="norm">
            <dgm:presOf axis="desOrSelf" ptType="node"/>
          </dgm:if>
          <dgm:else name="Name126">
            <dgm:presOf axis="root ch desOrSelf" ptType="all node node" st="1 2 1" cnt="1 1 0"/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5E14E-3399-4729-9487-008C58F41F51}" type="datetimeFigureOut">
              <a:rPr lang="es-MX" smtClean="0"/>
              <a:t>28/02/2026</a:t>
            </a:fld>
            <a:endParaRPr lang="es-MX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04CA6-9F73-4A6D-BC4D-1B760B372A0E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26539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5E14E-3399-4729-9487-008C58F41F51}" type="datetimeFigureOut">
              <a:rPr lang="es-MX" smtClean="0"/>
              <a:t>28/02/2026</a:t>
            </a:fld>
            <a:endParaRPr lang="es-MX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04CA6-9F73-4A6D-BC4D-1B760B372A0E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134273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5E14E-3399-4729-9487-008C58F41F51}" type="datetimeFigureOut">
              <a:rPr lang="es-MX" smtClean="0"/>
              <a:t>28/02/2026</a:t>
            </a:fld>
            <a:endParaRPr lang="es-MX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04CA6-9F73-4A6D-BC4D-1B760B372A0E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760764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5E14E-3399-4729-9487-008C58F41F51}" type="datetimeFigureOut">
              <a:rPr lang="es-MX" smtClean="0"/>
              <a:t>28/02/2026</a:t>
            </a:fld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04CA6-9F73-4A6D-BC4D-1B760B372A0E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758804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5E14E-3399-4729-9487-008C58F41F51}" type="datetimeFigureOut">
              <a:rPr lang="es-MX" smtClean="0"/>
              <a:t>28/02/2026</a:t>
            </a:fld>
            <a:endParaRPr lang="es-MX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04CA6-9F73-4A6D-BC4D-1B760B372A0E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3054293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5E14E-3399-4729-9487-008C58F41F51}" type="datetimeFigureOut">
              <a:rPr lang="es-MX" smtClean="0"/>
              <a:t>28/02/2026</a:t>
            </a:fld>
            <a:endParaRPr lang="es-MX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04CA6-9F73-4A6D-BC4D-1B760B372A0E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6979331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5E14E-3399-4729-9487-008C58F41F51}" type="datetimeFigureOut">
              <a:rPr lang="es-MX" smtClean="0"/>
              <a:t>28/02/2026</a:t>
            </a:fld>
            <a:endParaRPr lang="es-MX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04CA6-9F73-4A6D-BC4D-1B760B372A0E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9877404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5E14E-3399-4729-9487-008C58F41F51}" type="datetimeFigureOut">
              <a:rPr lang="es-MX" smtClean="0"/>
              <a:t>28/02/2026</a:t>
            </a:fld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04CA6-9F73-4A6D-BC4D-1B760B372A0E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337305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5E14E-3399-4729-9487-008C58F41F51}" type="datetimeFigureOut">
              <a:rPr lang="es-MX" smtClean="0"/>
              <a:t>28/02/2026</a:t>
            </a:fld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04CA6-9F73-4A6D-BC4D-1B760B372A0E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091867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5E14E-3399-4729-9487-008C58F41F51}" type="datetimeFigureOut">
              <a:rPr lang="es-MX" smtClean="0"/>
              <a:t>28/02/2026</a:t>
            </a:fld>
            <a:endParaRPr lang="es-MX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04CA6-9F73-4A6D-BC4D-1B760B372A0E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6920386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5E14E-3399-4729-9487-008C58F41F51}" type="datetimeFigureOut">
              <a:rPr lang="es-MX" smtClean="0"/>
              <a:t>28/02/2026</a:t>
            </a:fld>
            <a:endParaRPr lang="es-MX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04CA6-9F73-4A6D-BC4D-1B760B372A0E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060063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t="-61000" b="-6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75E14E-3399-4729-9487-008C58F41F51}" type="datetimeFigureOut">
              <a:rPr lang="es-MX" smtClean="0"/>
              <a:t>28/02/2026</a:t>
            </a:fld>
            <a:endParaRPr lang="es-MX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704CA6-9F73-4A6D-BC4D-1B760B372A0E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568964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5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11" Type="http://schemas.openxmlformats.org/officeDocument/2006/relationships/image" Target="../media/image9.png"/><Relationship Id="rId5" Type="http://schemas.openxmlformats.org/officeDocument/2006/relationships/diagramColors" Target="../diagrams/colors1.xml"/><Relationship Id="rId10" Type="http://schemas.openxmlformats.org/officeDocument/2006/relationships/image" Target="../media/image8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61000" b="-6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MX" dirty="0">
                <a:latin typeface="Consolas" panose="020B0609020204030204" pitchFamily="49" charset="0"/>
              </a:rPr>
              <a:t>Introducción a R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MX" dirty="0">
                <a:solidFill>
                  <a:schemeClr val="bg2"/>
                </a:solidFill>
                <a:latin typeface="Consolas" panose="020B0609020204030204" pitchFamily="49" charset="0"/>
              </a:rPr>
              <a:t>Sesión 1</a:t>
            </a:r>
          </a:p>
        </p:txBody>
      </p:sp>
      <p:grpSp>
        <p:nvGrpSpPr>
          <p:cNvPr id="9" name="Grupo 8"/>
          <p:cNvGrpSpPr/>
          <p:nvPr/>
        </p:nvGrpSpPr>
        <p:grpSpPr>
          <a:xfrm>
            <a:off x="-9525" y="5135376"/>
            <a:ext cx="2033179" cy="1630683"/>
            <a:chOff x="0" y="5183001"/>
            <a:chExt cx="2033179" cy="1630683"/>
          </a:xfrm>
        </p:grpSpPr>
        <p:sp>
          <p:nvSpPr>
            <p:cNvPr id="7" name="Forma libre 6"/>
            <p:cNvSpPr/>
            <p:nvPr/>
          </p:nvSpPr>
          <p:spPr>
            <a:xfrm>
              <a:off x="1095676" y="5407025"/>
              <a:ext cx="818147" cy="991402"/>
            </a:xfrm>
            <a:custGeom>
              <a:avLst/>
              <a:gdLst>
                <a:gd name="connsiteX0" fmla="*/ 38501 w 818147"/>
                <a:gd name="connsiteY0" fmla="*/ 0 h 991402"/>
                <a:gd name="connsiteX1" fmla="*/ 818147 w 818147"/>
                <a:gd name="connsiteY1" fmla="*/ 375386 h 991402"/>
                <a:gd name="connsiteX2" fmla="*/ 818147 w 818147"/>
                <a:gd name="connsiteY2" fmla="*/ 991402 h 991402"/>
                <a:gd name="connsiteX3" fmla="*/ 442762 w 818147"/>
                <a:gd name="connsiteY3" fmla="*/ 789272 h 991402"/>
                <a:gd name="connsiteX4" fmla="*/ 375385 w 818147"/>
                <a:gd name="connsiteY4" fmla="*/ 760396 h 991402"/>
                <a:gd name="connsiteX5" fmla="*/ 0 w 818147"/>
                <a:gd name="connsiteY5" fmla="*/ 577516 h 991402"/>
                <a:gd name="connsiteX6" fmla="*/ 38501 w 818147"/>
                <a:gd name="connsiteY6" fmla="*/ 0 h 991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8147" h="991402">
                  <a:moveTo>
                    <a:pt x="38501" y="0"/>
                  </a:moveTo>
                  <a:lnTo>
                    <a:pt x="818147" y="375386"/>
                  </a:lnTo>
                  <a:lnTo>
                    <a:pt x="818147" y="991402"/>
                  </a:lnTo>
                  <a:lnTo>
                    <a:pt x="442762" y="789272"/>
                  </a:lnTo>
                  <a:lnTo>
                    <a:pt x="375385" y="760396"/>
                  </a:lnTo>
                  <a:lnTo>
                    <a:pt x="0" y="577516"/>
                  </a:lnTo>
                  <a:lnTo>
                    <a:pt x="38501" y="0"/>
                  </a:lnTo>
                  <a:close/>
                </a:path>
              </a:pathLst>
            </a:cu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pic>
          <p:nvPicPr>
            <p:cNvPr id="4" name="Imagen 3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7799" y="5183001"/>
              <a:ext cx="1865380" cy="1630683"/>
            </a:xfrm>
            <a:prstGeom prst="rect">
              <a:avLst/>
            </a:prstGeom>
          </p:spPr>
        </p:pic>
        <p:pic>
          <p:nvPicPr>
            <p:cNvPr id="8" name="Imagen 7"/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908"/>
            <a:stretch/>
          </p:blipFill>
          <p:spPr>
            <a:xfrm>
              <a:off x="0" y="5554095"/>
              <a:ext cx="1932873" cy="85039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407680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8DD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>
                <a:latin typeface="Consolas" panose="020B0609020204030204" pitchFamily="49" charset="0"/>
              </a:rPr>
              <a:t>Bienvenida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2092325"/>
            <a:ext cx="11087100" cy="4351338"/>
          </a:xfrm>
        </p:spPr>
        <p:txBody>
          <a:bodyPr/>
          <a:lstStyle/>
          <a:p>
            <a:r>
              <a:rPr lang="es-MX" dirty="0">
                <a:latin typeface="Consolas" panose="020B0609020204030204" pitchFamily="49" charset="0"/>
              </a:rPr>
              <a:t>Sesiones diseñadas a tu ritmo, intereses y objetivos</a:t>
            </a:r>
          </a:p>
          <a:p>
            <a:pPr lvl="1"/>
            <a:r>
              <a:rPr lang="es-MX" dirty="0">
                <a:solidFill>
                  <a:schemeClr val="accent1"/>
                </a:solidFill>
                <a:latin typeface="Consolas" panose="020B0609020204030204" pitchFamily="49" charset="0"/>
              </a:rPr>
              <a:t>Los temas a abordar son sugeridos, no rígidos</a:t>
            </a:r>
          </a:p>
          <a:p>
            <a:pPr lvl="1"/>
            <a:r>
              <a:rPr lang="es-MX" dirty="0">
                <a:solidFill>
                  <a:schemeClr val="accent1"/>
                </a:solidFill>
                <a:latin typeface="Consolas" panose="020B0609020204030204" pitchFamily="49" charset="0"/>
              </a:rPr>
              <a:t>El ritmo lo defines tú</a:t>
            </a:r>
          </a:p>
          <a:p>
            <a:r>
              <a:rPr lang="es-MX" i="1" dirty="0" err="1">
                <a:latin typeface="Consolas" panose="020B0609020204030204" pitchFamily="49" charset="0"/>
              </a:rPr>
              <a:t>Hands</a:t>
            </a:r>
            <a:r>
              <a:rPr lang="es-MX" i="1" dirty="0">
                <a:latin typeface="Consolas" panose="020B0609020204030204" pitchFamily="49" charset="0"/>
              </a:rPr>
              <a:t> </a:t>
            </a:r>
            <a:r>
              <a:rPr lang="es-MX" i="1" dirty="0" err="1">
                <a:latin typeface="Consolas" panose="020B0609020204030204" pitchFamily="49" charset="0"/>
              </a:rPr>
              <a:t>on</a:t>
            </a:r>
            <a:r>
              <a:rPr lang="es-MX" i="1" dirty="0">
                <a:latin typeface="Consolas" panose="020B0609020204030204" pitchFamily="49" charset="0"/>
              </a:rPr>
              <a:t> </a:t>
            </a:r>
            <a:r>
              <a:rPr lang="es-MX" dirty="0">
                <a:latin typeface="Consolas" panose="020B0609020204030204" pitchFamily="49" charset="0"/>
              </a:rPr>
              <a:t>desde el día 1</a:t>
            </a:r>
          </a:p>
          <a:p>
            <a:pPr lvl="1"/>
            <a:r>
              <a:rPr lang="es-MX" dirty="0">
                <a:solidFill>
                  <a:schemeClr val="accent1"/>
                </a:solidFill>
                <a:latin typeface="Consolas" panose="020B0609020204030204" pitchFamily="49" charset="0"/>
              </a:rPr>
              <a:t>Repo </a:t>
            </a:r>
            <a:r>
              <a:rPr lang="es-MX" dirty="0" err="1">
                <a:solidFill>
                  <a:schemeClr val="accent1"/>
                </a:solidFill>
                <a:latin typeface="Consolas" panose="020B0609020204030204" pitchFamily="49" charset="0"/>
              </a:rPr>
              <a:t>GitHub</a:t>
            </a:r>
            <a:endParaRPr lang="es-MX" dirty="0">
              <a:solidFill>
                <a:schemeClr val="accent1"/>
              </a:solidFill>
              <a:latin typeface="Consolas" panose="020B0609020204030204" pitchFamily="49" charset="0"/>
            </a:endParaRPr>
          </a:p>
          <a:p>
            <a:pPr lvl="1"/>
            <a:r>
              <a:rPr lang="es-MX" dirty="0">
                <a:solidFill>
                  <a:schemeClr val="accent1"/>
                </a:solidFill>
                <a:latin typeface="Consolas" panose="020B0609020204030204" pitchFamily="49" charset="0"/>
              </a:rPr>
              <a:t>Pantalla compartida</a:t>
            </a:r>
          </a:p>
          <a:p>
            <a:pPr lvl="1"/>
            <a:r>
              <a:rPr lang="es-MX" dirty="0">
                <a:solidFill>
                  <a:schemeClr val="accent1"/>
                </a:solidFill>
                <a:latin typeface="Consolas" panose="020B0609020204030204" pitchFamily="49" charset="0"/>
              </a:rPr>
              <a:t>Ejercicios prácticos </a:t>
            </a:r>
          </a:p>
          <a:p>
            <a:pPr lvl="2"/>
            <a:endParaRPr lang="es-MX" b="1" dirty="0">
              <a:solidFill>
                <a:schemeClr val="accent3"/>
              </a:solidFill>
            </a:endParaRPr>
          </a:p>
        </p:txBody>
      </p:sp>
      <p:grpSp>
        <p:nvGrpSpPr>
          <p:cNvPr id="8" name="Grupo 7"/>
          <p:cNvGrpSpPr/>
          <p:nvPr/>
        </p:nvGrpSpPr>
        <p:grpSpPr>
          <a:xfrm flipH="1">
            <a:off x="10158821" y="5144901"/>
            <a:ext cx="2033179" cy="1630683"/>
            <a:chOff x="0" y="5183001"/>
            <a:chExt cx="2033179" cy="1630683"/>
          </a:xfrm>
        </p:grpSpPr>
        <p:sp>
          <p:nvSpPr>
            <p:cNvPr id="9" name="Forma libre 8"/>
            <p:cNvSpPr/>
            <p:nvPr/>
          </p:nvSpPr>
          <p:spPr>
            <a:xfrm>
              <a:off x="1095676" y="5407025"/>
              <a:ext cx="818147" cy="991402"/>
            </a:xfrm>
            <a:custGeom>
              <a:avLst/>
              <a:gdLst>
                <a:gd name="connsiteX0" fmla="*/ 38501 w 818147"/>
                <a:gd name="connsiteY0" fmla="*/ 0 h 991402"/>
                <a:gd name="connsiteX1" fmla="*/ 818147 w 818147"/>
                <a:gd name="connsiteY1" fmla="*/ 375386 h 991402"/>
                <a:gd name="connsiteX2" fmla="*/ 818147 w 818147"/>
                <a:gd name="connsiteY2" fmla="*/ 991402 h 991402"/>
                <a:gd name="connsiteX3" fmla="*/ 442762 w 818147"/>
                <a:gd name="connsiteY3" fmla="*/ 789272 h 991402"/>
                <a:gd name="connsiteX4" fmla="*/ 375385 w 818147"/>
                <a:gd name="connsiteY4" fmla="*/ 760396 h 991402"/>
                <a:gd name="connsiteX5" fmla="*/ 0 w 818147"/>
                <a:gd name="connsiteY5" fmla="*/ 577516 h 991402"/>
                <a:gd name="connsiteX6" fmla="*/ 38501 w 818147"/>
                <a:gd name="connsiteY6" fmla="*/ 0 h 991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8147" h="991402">
                  <a:moveTo>
                    <a:pt x="38501" y="0"/>
                  </a:moveTo>
                  <a:lnTo>
                    <a:pt x="818147" y="375386"/>
                  </a:lnTo>
                  <a:lnTo>
                    <a:pt x="818147" y="991402"/>
                  </a:lnTo>
                  <a:lnTo>
                    <a:pt x="442762" y="789272"/>
                  </a:lnTo>
                  <a:lnTo>
                    <a:pt x="375385" y="760396"/>
                  </a:lnTo>
                  <a:lnTo>
                    <a:pt x="0" y="577516"/>
                  </a:lnTo>
                  <a:lnTo>
                    <a:pt x="38501" y="0"/>
                  </a:lnTo>
                  <a:close/>
                </a:path>
              </a:pathLst>
            </a:cu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pic>
          <p:nvPicPr>
            <p:cNvPr id="10" name="Imagen 9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7799" y="5183001"/>
              <a:ext cx="1865380" cy="1630683"/>
            </a:xfrm>
            <a:prstGeom prst="rect">
              <a:avLst/>
            </a:prstGeom>
          </p:spPr>
        </p:pic>
        <p:pic>
          <p:nvPicPr>
            <p:cNvPr id="11" name="Imagen 10"/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908"/>
            <a:stretch/>
          </p:blipFill>
          <p:spPr>
            <a:xfrm>
              <a:off x="0" y="5554095"/>
              <a:ext cx="1932873" cy="85039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37039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8DD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>
                <a:latin typeface="Consolas" panose="020B0609020204030204" pitchFamily="49" charset="0"/>
              </a:rPr>
              <a:t>Objetivos del día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1514475"/>
            <a:ext cx="10229850" cy="5172075"/>
          </a:xfrm>
        </p:spPr>
        <p:txBody>
          <a:bodyPr numCol="2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s-MX" sz="2000" b="1" dirty="0">
                <a:solidFill>
                  <a:schemeClr val="accent2"/>
                </a:solidFill>
                <a:latin typeface="Consolas" panose="020B0609020204030204" pitchFamily="49" charset="0"/>
              </a:rPr>
              <a:t>Entorno</a:t>
            </a:r>
          </a:p>
          <a:p>
            <a:pPr lvl="1"/>
            <a:r>
              <a:rPr lang="es-MX" sz="1800" dirty="0">
                <a:latin typeface="Consolas" panose="020B0609020204030204" pitchFamily="49" charset="0"/>
              </a:rPr>
              <a:t>Repo </a:t>
            </a:r>
            <a:r>
              <a:rPr lang="es-MX" sz="1800" dirty="0" err="1">
                <a:latin typeface="Consolas" panose="020B0609020204030204" pitchFamily="49" charset="0"/>
              </a:rPr>
              <a:t>Github</a:t>
            </a:r>
            <a:endParaRPr lang="es-MX" sz="1800" dirty="0">
              <a:latin typeface="Consolas" panose="020B0609020204030204" pitchFamily="49" charset="0"/>
            </a:endParaRPr>
          </a:p>
          <a:p>
            <a:pPr lvl="1"/>
            <a:r>
              <a:rPr lang="es-MX" sz="1800" dirty="0">
                <a:latin typeface="Consolas" panose="020B0609020204030204" pitchFamily="49" charset="0"/>
              </a:rPr>
              <a:t>IDE (</a:t>
            </a:r>
            <a:r>
              <a:rPr lang="es-MX" sz="1800" dirty="0" err="1">
                <a:latin typeface="Consolas" panose="020B0609020204030204" pitchFamily="49" charset="0"/>
              </a:rPr>
              <a:t>Rstudio</a:t>
            </a:r>
            <a:r>
              <a:rPr lang="es-MX" sz="1800" dirty="0">
                <a:latin typeface="Consolas" panose="020B0609020204030204" pitchFamily="49" charset="0"/>
              </a:rPr>
              <a:t>)</a:t>
            </a:r>
          </a:p>
          <a:p>
            <a:pPr lvl="1"/>
            <a:r>
              <a:rPr lang="es-MX" sz="1800" dirty="0">
                <a:latin typeface="Consolas" panose="020B0609020204030204" pitchFamily="49" charset="0"/>
              </a:rPr>
              <a:t>Librerías </a:t>
            </a:r>
          </a:p>
          <a:p>
            <a:pPr marL="514350" indent="-514350">
              <a:buFont typeface="+mj-lt"/>
              <a:buAutoNum type="arabicPeriod"/>
            </a:pPr>
            <a:r>
              <a:rPr lang="es-MX" sz="2000" b="1" i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Tidyverse</a:t>
            </a:r>
            <a:endParaRPr lang="es-MX" sz="2000" b="1" i="1" dirty="0">
              <a:solidFill>
                <a:schemeClr val="accent2"/>
              </a:solidFill>
              <a:latin typeface="Consolas" panose="020B0609020204030204" pitchFamily="49" charset="0"/>
            </a:endParaRPr>
          </a:p>
          <a:p>
            <a:pPr lvl="1"/>
            <a:r>
              <a:rPr lang="es-MX" sz="1800" dirty="0">
                <a:latin typeface="Consolas" panose="020B0609020204030204" pitchFamily="49" charset="0"/>
              </a:rPr>
              <a:t>Carga de datos</a:t>
            </a:r>
          </a:p>
          <a:p>
            <a:pPr lvl="1"/>
            <a:r>
              <a:rPr lang="es-MX" sz="1800" dirty="0">
                <a:latin typeface="Consolas" panose="020B0609020204030204" pitchFamily="49" charset="0"/>
              </a:rPr>
              <a:t>Limpieza</a:t>
            </a:r>
          </a:p>
          <a:p>
            <a:pPr lvl="1"/>
            <a:r>
              <a:rPr lang="es-MX" sz="1800" dirty="0">
                <a:latin typeface="Consolas" panose="020B0609020204030204" pitchFamily="49" charset="0"/>
              </a:rPr>
              <a:t>Manipulación</a:t>
            </a:r>
          </a:p>
          <a:p>
            <a:pPr lvl="2"/>
            <a:r>
              <a:rPr lang="es-MX" sz="1600" dirty="0">
                <a:latin typeface="Consolas" panose="020B0609020204030204" pitchFamily="49" charset="0"/>
              </a:rPr>
              <a:t>Operaciones numéricas</a:t>
            </a:r>
          </a:p>
          <a:p>
            <a:pPr lvl="2"/>
            <a:r>
              <a:rPr lang="es-MX" sz="1600" dirty="0">
                <a:latin typeface="Consolas" panose="020B0609020204030204" pitchFamily="49" charset="0"/>
              </a:rPr>
              <a:t>Operaciones con </a:t>
            </a:r>
            <a:r>
              <a:rPr lang="es-MX" sz="1600" i="1" dirty="0" err="1">
                <a:latin typeface="Consolas" panose="020B0609020204030204" pitchFamily="49" charset="0"/>
              </a:rPr>
              <a:t>strings</a:t>
            </a:r>
            <a:endParaRPr lang="es-MX" sz="1600" i="1" dirty="0">
              <a:latin typeface="Consolas" panose="020B0609020204030204" pitchFamily="49" charset="0"/>
            </a:endParaRPr>
          </a:p>
          <a:p>
            <a:pPr lvl="2"/>
            <a:r>
              <a:rPr lang="es-MX" sz="1600" dirty="0">
                <a:latin typeface="Consolas" panose="020B0609020204030204" pitchFamily="49" charset="0"/>
              </a:rPr>
              <a:t>Agrupado y colapsado</a:t>
            </a:r>
          </a:p>
          <a:p>
            <a:pPr lvl="1"/>
            <a:r>
              <a:rPr lang="es-MX" sz="1800" dirty="0">
                <a:latin typeface="Consolas" panose="020B0609020204030204" pitchFamily="49" charset="0"/>
              </a:rPr>
              <a:t>Exportado</a:t>
            </a:r>
          </a:p>
          <a:p>
            <a:pPr marL="514350" indent="-514350">
              <a:buFont typeface="+mj-lt"/>
              <a:buAutoNum type="arabicPeriod"/>
            </a:pPr>
            <a:r>
              <a:rPr lang="es-MX" sz="2000" b="1" dirty="0">
                <a:solidFill>
                  <a:schemeClr val="accent2"/>
                </a:solidFill>
                <a:latin typeface="Consolas" panose="020B0609020204030204" pitchFamily="49" charset="0"/>
              </a:rPr>
              <a:t>Flujo de trabajo completo</a:t>
            </a:r>
          </a:p>
          <a:p>
            <a:pPr lvl="1"/>
            <a:r>
              <a:rPr lang="es-MX" sz="1800" dirty="0">
                <a:latin typeface="Consolas" panose="020B0609020204030204" pitchFamily="49" charset="0"/>
              </a:rPr>
              <a:t>Diseño de </a:t>
            </a:r>
            <a:r>
              <a:rPr lang="es-MX" sz="1800" i="1" dirty="0">
                <a:latin typeface="Consolas" panose="020B0609020204030204" pitchFamily="49" charset="0"/>
              </a:rPr>
              <a:t>pipeline</a:t>
            </a:r>
          </a:p>
          <a:p>
            <a:pPr lvl="1"/>
            <a:r>
              <a:rPr lang="es-MX" sz="1800" dirty="0">
                <a:latin typeface="Consolas" panose="020B0609020204030204" pitchFamily="49" charset="0"/>
              </a:rPr>
              <a:t>Reproductibilidad</a:t>
            </a:r>
          </a:p>
          <a:p>
            <a:pPr marL="514350" indent="-514350">
              <a:buFont typeface="+mj-lt"/>
              <a:buAutoNum type="arabicPeriod"/>
            </a:pPr>
            <a:endParaRPr lang="es-MX" sz="1600" dirty="0">
              <a:solidFill>
                <a:schemeClr val="accent2"/>
              </a:solidFill>
            </a:endParaRPr>
          </a:p>
          <a:p>
            <a:pPr marL="514350" indent="-514350">
              <a:buFont typeface="+mj-lt"/>
              <a:buAutoNum type="arabicPeriod"/>
            </a:pPr>
            <a:endParaRPr lang="es-MX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28" b="31536"/>
          <a:stretch/>
        </p:blipFill>
        <p:spPr>
          <a:xfrm rot="191927" flipH="1">
            <a:off x="8639174" y="3370954"/>
            <a:ext cx="3304033" cy="3639445"/>
          </a:xfrm>
          <a:prstGeom prst="rtTriangle">
            <a:avLst/>
          </a:prstGeom>
        </p:spPr>
      </p:pic>
      <p:sp>
        <p:nvSpPr>
          <p:cNvPr id="5" name="CuadroTexto 4"/>
          <p:cNvSpPr txBox="1"/>
          <p:nvPr/>
        </p:nvSpPr>
        <p:spPr>
          <a:xfrm>
            <a:off x="6443090" y="2626078"/>
            <a:ext cx="38481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accent1"/>
                </a:solidFill>
                <a:latin typeface="Consolas" panose="020B0609020204030204" pitchFamily="49" charset="0"/>
              </a:rPr>
              <a:t>Al final de la sesión, serás capaz de crear un pipeline básico en R que transforme datos brutos en una base lista para análisis.</a:t>
            </a:r>
          </a:p>
        </p:txBody>
      </p:sp>
    </p:spTree>
    <p:extLst>
      <p:ext uri="{BB962C8B-B14F-4D97-AF65-F5344CB8AC3E}">
        <p14:creationId xmlns:p14="http://schemas.microsoft.com/office/powerpoint/2010/main" val="861512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447800" y="3031331"/>
            <a:ext cx="9144000" cy="795338"/>
          </a:xfrm>
        </p:spPr>
        <p:txBody>
          <a:bodyPr>
            <a:normAutofit fontScale="90000"/>
          </a:bodyPr>
          <a:lstStyle/>
          <a:p>
            <a:r>
              <a:rPr lang="es-MX" dirty="0">
                <a:latin typeface="Consolas" panose="020B0609020204030204" pitchFamily="49" charset="0"/>
              </a:rPr>
              <a:t>¿Por qué R?</a:t>
            </a:r>
          </a:p>
        </p:txBody>
      </p:sp>
    </p:spTree>
    <p:extLst>
      <p:ext uri="{BB962C8B-B14F-4D97-AF65-F5344CB8AC3E}">
        <p14:creationId xmlns:p14="http://schemas.microsoft.com/office/powerpoint/2010/main" val="24827973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8DD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a 1"/>
          <p:cNvGraphicFramePr/>
          <p:nvPr>
            <p:extLst>
              <p:ext uri="{D42A27DB-BD31-4B8C-83A1-F6EECF244321}">
                <p14:modId xmlns:p14="http://schemas.microsoft.com/office/powerpoint/2010/main" val="3585550326"/>
              </p:ext>
            </p:extLst>
          </p:nvPr>
        </p:nvGraphicFramePr>
        <p:xfrm>
          <a:off x="708068" y="-34986"/>
          <a:ext cx="10719207" cy="689298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" name="Imagen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647" y="3521829"/>
            <a:ext cx="771976" cy="575392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8667" y="2683145"/>
            <a:ext cx="838684" cy="838684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8667" y="5234286"/>
            <a:ext cx="978383" cy="611489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7134" y="2329974"/>
            <a:ext cx="772513" cy="772513"/>
          </a:xfrm>
          <a:prstGeom prst="rect">
            <a:avLst/>
          </a:prstGeom>
        </p:spPr>
      </p:pic>
      <p:pic>
        <p:nvPicPr>
          <p:cNvPr id="7" name="Imagen 6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1710" y="3227066"/>
            <a:ext cx="1282699" cy="734204"/>
          </a:xfrm>
          <a:prstGeom prst="rect">
            <a:avLst/>
          </a:prstGeom>
        </p:spPr>
      </p:pic>
      <p:sp>
        <p:nvSpPr>
          <p:cNvPr id="8" name="Título 1"/>
          <p:cNvSpPr txBox="1">
            <a:spLocks/>
          </p:cNvSpPr>
          <p:nvPr/>
        </p:nvSpPr>
        <p:spPr>
          <a:xfrm>
            <a:off x="333375" y="441326"/>
            <a:ext cx="3667125" cy="7112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sz="3200" b="1" dirty="0">
                <a:latin typeface="Consolas" panose="020B0609020204030204" pitchFamily="49" charset="0"/>
              </a:rPr>
              <a:t>¿Donde vive R?</a:t>
            </a:r>
          </a:p>
        </p:txBody>
      </p:sp>
    </p:spTree>
    <p:extLst>
      <p:ext uri="{BB962C8B-B14F-4D97-AF65-F5344CB8AC3E}">
        <p14:creationId xmlns:p14="http://schemas.microsoft.com/office/powerpoint/2010/main" val="167707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8DD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s-MX" dirty="0">
                <a:latin typeface="Consolas" panose="020B0609020204030204" pitchFamily="49" charset="0"/>
              </a:rPr>
              <a:t>¿Qué ofrece R?</a:t>
            </a:r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569081" y="1600200"/>
            <a:ext cx="4627562" cy="4192588"/>
          </a:xfrm>
        </p:spPr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dirty="0">
                <a:latin typeface="Consolas" panose="020B0609020204030204" pitchFamily="49" charset="0"/>
              </a:rPr>
              <a:t>Leguaje de programación flexible orientado a </a:t>
            </a:r>
            <a:r>
              <a:rPr lang="es-MX" sz="2000" b="1" dirty="0">
                <a:solidFill>
                  <a:schemeClr val="accent3"/>
                </a:solidFill>
                <a:latin typeface="Consolas" panose="020B0609020204030204" pitchFamily="49" charset="0"/>
              </a:rPr>
              <a:t>objetos </a:t>
            </a:r>
            <a:r>
              <a:rPr lang="es-MX" sz="2000" dirty="0">
                <a:latin typeface="Consolas" panose="020B0609020204030204" pitchFamily="49" charset="0"/>
              </a:rPr>
              <a:t>diseñado para el manejo y análisis de datos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dirty="0">
                <a:latin typeface="Consolas" panose="020B0609020204030204" pitchFamily="49" charset="0"/>
              </a:rPr>
              <a:t>Gratuito y de </a:t>
            </a:r>
            <a:r>
              <a:rPr lang="es-MX" sz="2000" b="1" dirty="0">
                <a:solidFill>
                  <a:schemeClr val="accent3"/>
                </a:solidFill>
                <a:latin typeface="Consolas" panose="020B0609020204030204" pitchFamily="49" charset="0"/>
              </a:rPr>
              <a:t>código libre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dirty="0">
                <a:latin typeface="Consolas" panose="020B0609020204030204" pitchFamily="49" charset="0"/>
              </a:rPr>
              <a:t>Colaborativo mantenido por una </a:t>
            </a:r>
            <a:r>
              <a:rPr lang="es-MX" sz="2000" b="1" dirty="0">
                <a:solidFill>
                  <a:schemeClr val="accent3"/>
                </a:solidFill>
                <a:latin typeface="Consolas" panose="020B0609020204030204" pitchFamily="49" charset="0"/>
              </a:rPr>
              <a:t>comunidad global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b="1" dirty="0">
                <a:solidFill>
                  <a:schemeClr val="accent3"/>
                </a:solidFill>
                <a:latin typeface="Consolas" panose="020B0609020204030204" pitchFamily="49" charset="0"/>
              </a:rPr>
              <a:t>Fácil integración </a:t>
            </a:r>
            <a:r>
              <a:rPr lang="es-MX" sz="2000" dirty="0">
                <a:latin typeface="Consolas" panose="020B0609020204030204" pitchFamily="49" charset="0"/>
              </a:rPr>
              <a:t>con otras herramientas (Python, SQL, </a:t>
            </a:r>
            <a:r>
              <a:rPr lang="es-MX" sz="2000" dirty="0" err="1">
                <a:latin typeface="Consolas" panose="020B0609020204030204" pitchFamily="49" charset="0"/>
              </a:rPr>
              <a:t>Power</a:t>
            </a:r>
            <a:r>
              <a:rPr lang="es-MX" sz="2000" dirty="0">
                <a:latin typeface="Consolas" panose="020B0609020204030204" pitchFamily="49" charset="0"/>
              </a:rPr>
              <a:t> BI)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dirty="0">
                <a:latin typeface="Consolas" panose="020B0609020204030204" pitchFamily="49" charset="0"/>
              </a:rPr>
              <a:t>Alta </a:t>
            </a:r>
            <a:r>
              <a:rPr lang="es-MX" sz="2000" b="1" dirty="0">
                <a:solidFill>
                  <a:schemeClr val="accent3"/>
                </a:solidFill>
                <a:latin typeface="Consolas" panose="020B0609020204030204" pitchFamily="49" charset="0"/>
              </a:rPr>
              <a:t>reproductibilidad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dirty="0">
                <a:latin typeface="Consolas" panose="020B0609020204030204" pitchFamily="49" charset="0"/>
              </a:rPr>
              <a:t>Uso extendido en el sector público y la academia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MX" b="1" dirty="0">
              <a:solidFill>
                <a:schemeClr val="accent3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MX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MX" b="1" dirty="0">
              <a:solidFill>
                <a:schemeClr val="accent3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MX" b="1" dirty="0">
              <a:solidFill>
                <a:schemeClr val="accent3"/>
              </a:solidFill>
            </a:endParaRPr>
          </a:p>
          <a:p>
            <a:endParaRPr lang="es-MX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8540" y="1771650"/>
            <a:ext cx="5644299" cy="1714724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4900" y="3577236"/>
            <a:ext cx="5647939" cy="1861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2174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3031331"/>
            <a:ext cx="9144000" cy="795338"/>
          </a:xfrm>
        </p:spPr>
        <p:txBody>
          <a:bodyPr>
            <a:normAutofit fontScale="90000"/>
          </a:bodyPr>
          <a:lstStyle/>
          <a:p>
            <a:r>
              <a:rPr lang="es-MX" dirty="0">
                <a:latin typeface="Consolas" panose="020B0609020204030204" pitchFamily="49" charset="0"/>
              </a:rPr>
              <a:t>Entorno</a:t>
            </a: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452"/>
          <a:stretch/>
        </p:blipFill>
        <p:spPr>
          <a:xfrm>
            <a:off x="10364723" y="5827775"/>
            <a:ext cx="1646302" cy="896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7375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8DD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b="1" dirty="0">
                <a:latin typeface="Consolas" panose="020B0609020204030204" pitchFamily="49" charset="0"/>
              </a:rPr>
              <a:t>Paquetes y </a:t>
            </a:r>
            <a:r>
              <a:rPr lang="es-MX" b="1" i="1" dirty="0" err="1">
                <a:latin typeface="Consolas" panose="020B0609020204030204" pitchFamily="49" charset="0"/>
              </a:rPr>
              <a:t>tidyverse</a:t>
            </a:r>
            <a:endParaRPr lang="es-MX" b="1" i="1" dirty="0">
              <a:latin typeface="Consolas" panose="020B0609020204030204" pitchFamily="49" charset="0"/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1825625"/>
            <a:ext cx="6578600" cy="4351338"/>
          </a:xfrm>
        </p:spPr>
        <p:txBody>
          <a:bodyPr>
            <a:normAutofit fontScale="92500" lnSpcReduction="10000"/>
          </a:bodyPr>
          <a:lstStyle/>
          <a:p>
            <a:r>
              <a:rPr lang="es-MX" dirty="0">
                <a:latin typeface="Consolas" panose="020B0609020204030204" pitchFamily="49" charset="0"/>
              </a:rPr>
              <a:t>Se instalan desde CRAN con </a:t>
            </a:r>
            <a:r>
              <a:rPr lang="es-MX" dirty="0" err="1">
                <a:solidFill>
                  <a:schemeClr val="accent2"/>
                </a:solidFill>
                <a:latin typeface="Consolas" panose="020B0609020204030204" pitchFamily="49" charset="0"/>
              </a:rPr>
              <a:t>install.packages</a:t>
            </a:r>
            <a:r>
              <a:rPr lang="es-MX" dirty="0">
                <a:solidFill>
                  <a:schemeClr val="accent2"/>
                </a:solidFill>
                <a:latin typeface="Consolas" panose="020B0609020204030204" pitchFamily="49" charset="0"/>
              </a:rPr>
              <a:t>()</a:t>
            </a:r>
            <a:endParaRPr lang="es-MX" dirty="0">
              <a:latin typeface="Consolas" panose="020B0609020204030204" pitchFamily="49" charset="0"/>
            </a:endParaRPr>
          </a:p>
          <a:p>
            <a:r>
              <a:rPr lang="es-MX" dirty="0">
                <a:latin typeface="Consolas" panose="020B0609020204030204" pitchFamily="49" charset="0"/>
              </a:rPr>
              <a:t>Curso basado en el ecosistema </a:t>
            </a:r>
            <a:r>
              <a:rPr lang="es-MX" i="1" dirty="0" err="1">
                <a:latin typeface="Consolas" panose="020B0609020204030204" pitchFamily="49" charset="0"/>
              </a:rPr>
              <a:t>Tidyverse</a:t>
            </a:r>
            <a:endParaRPr lang="es-MX" i="1" dirty="0">
              <a:latin typeface="Consolas" panose="020B0609020204030204" pitchFamily="49" charset="0"/>
            </a:endParaRPr>
          </a:p>
          <a:p>
            <a:r>
              <a:rPr lang="es-MX" b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Tidyverse</a:t>
            </a:r>
            <a:r>
              <a:rPr lang="es-MX" dirty="0">
                <a:solidFill>
                  <a:schemeClr val="accent2"/>
                </a:solidFill>
                <a:latin typeface="Consolas" panose="020B0609020204030204" pitchFamily="49" charset="0"/>
              </a:rPr>
              <a:t> </a:t>
            </a:r>
            <a:r>
              <a:rPr lang="es-MX" dirty="0">
                <a:latin typeface="Consolas" panose="020B0609020204030204" pitchFamily="49" charset="0"/>
              </a:rPr>
              <a:t>es un conjunto de paquetes para análisis de datos.</a:t>
            </a:r>
          </a:p>
          <a:p>
            <a:pPr lvl="1"/>
            <a:r>
              <a:rPr lang="es-MX" dirty="0">
                <a:latin typeface="Consolas" panose="020B0609020204030204" pitchFamily="49" charset="0"/>
              </a:rPr>
              <a:t>Sintaxis consistente y fácil de leer.</a:t>
            </a:r>
          </a:p>
          <a:p>
            <a:pPr lvl="1"/>
            <a:r>
              <a:rPr lang="es-MX" dirty="0">
                <a:latin typeface="Consolas" panose="020B0609020204030204" pitchFamily="49" charset="0"/>
              </a:rPr>
              <a:t>Incluye herramientas para importar, limpiar, transformar y visualizar datos.</a:t>
            </a:r>
          </a:p>
          <a:p>
            <a:pPr lvl="1"/>
            <a:r>
              <a:rPr lang="es-MX" dirty="0">
                <a:latin typeface="Consolas" panose="020B0609020204030204" pitchFamily="49" charset="0"/>
              </a:rPr>
              <a:t>Paquetes clave: </a:t>
            </a:r>
            <a:r>
              <a:rPr lang="es-MX" b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dplyr</a:t>
            </a:r>
            <a:r>
              <a:rPr lang="es-MX" b="1" dirty="0">
                <a:solidFill>
                  <a:schemeClr val="accent2"/>
                </a:solidFill>
                <a:latin typeface="Consolas" panose="020B0609020204030204" pitchFamily="49" charset="0"/>
              </a:rPr>
              <a:t>, </a:t>
            </a:r>
            <a:r>
              <a:rPr lang="es-MX" b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tidyr</a:t>
            </a:r>
            <a:r>
              <a:rPr lang="es-MX" b="1" dirty="0">
                <a:solidFill>
                  <a:schemeClr val="accent2"/>
                </a:solidFill>
                <a:latin typeface="Consolas" panose="020B0609020204030204" pitchFamily="49" charset="0"/>
              </a:rPr>
              <a:t>, </a:t>
            </a:r>
            <a:r>
              <a:rPr lang="es-MX" b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readr</a:t>
            </a:r>
            <a:r>
              <a:rPr lang="es-MX" b="1" dirty="0">
                <a:solidFill>
                  <a:schemeClr val="accent2"/>
                </a:solidFill>
                <a:latin typeface="Consolas" panose="020B0609020204030204" pitchFamily="49" charset="0"/>
              </a:rPr>
              <a:t>, ggplot2</a:t>
            </a:r>
            <a:r>
              <a:rPr lang="es-MX" dirty="0">
                <a:solidFill>
                  <a:schemeClr val="accent2"/>
                </a:solidFill>
                <a:latin typeface="Consolas" panose="020B0609020204030204" pitchFamily="49" charset="0"/>
              </a:rPr>
              <a:t>.</a:t>
            </a:r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6625" y="1825625"/>
            <a:ext cx="4753082" cy="3690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817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8DD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MX" sz="4000" b="1" dirty="0">
                <a:latin typeface="Consolas" panose="020B0609020204030204" pitchFamily="49" charset="0"/>
              </a:rPr>
              <a:t>Operador pipe y funciones </a:t>
            </a:r>
            <a:r>
              <a:rPr lang="es-MX" sz="4000" b="1" i="1" dirty="0" err="1">
                <a:latin typeface="Consolas" panose="020B0609020204030204" pitchFamily="49" charset="0"/>
              </a:rPr>
              <a:t>dplyr</a:t>
            </a:r>
            <a:endParaRPr lang="es-MX" sz="4000" b="1" i="1" dirty="0">
              <a:latin typeface="Consolas" panose="020B0609020204030204" pitchFamily="49" charset="0"/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1422400"/>
            <a:ext cx="10718800" cy="4978400"/>
          </a:xfrm>
        </p:spPr>
        <p:txBody>
          <a:bodyPr>
            <a:normAutofit fontScale="70000" lnSpcReduction="20000"/>
          </a:bodyPr>
          <a:lstStyle/>
          <a:p>
            <a:r>
              <a:rPr lang="es-MX" dirty="0">
                <a:latin typeface="Consolas" panose="020B0609020204030204" pitchFamily="49" charset="0"/>
              </a:rPr>
              <a:t>Operador pipe (%&gt;%)</a:t>
            </a:r>
          </a:p>
          <a:p>
            <a:pPr lvl="1"/>
            <a:r>
              <a:rPr lang="es-MX" dirty="0">
                <a:latin typeface="Consolas" panose="020B0609020204030204" pitchFamily="49" charset="0"/>
              </a:rPr>
              <a:t>Permite </a:t>
            </a:r>
            <a:r>
              <a:rPr lang="es-MX" b="1" dirty="0">
                <a:solidFill>
                  <a:schemeClr val="accent2"/>
                </a:solidFill>
                <a:latin typeface="Consolas" panose="020B0609020204030204" pitchFamily="49" charset="0"/>
              </a:rPr>
              <a:t>encadenar</a:t>
            </a:r>
            <a:r>
              <a:rPr lang="es-MX" dirty="0">
                <a:solidFill>
                  <a:schemeClr val="accent2"/>
                </a:solidFill>
                <a:latin typeface="Consolas" panose="020B0609020204030204" pitchFamily="49" charset="0"/>
              </a:rPr>
              <a:t> </a:t>
            </a:r>
            <a:r>
              <a:rPr lang="es-MX" dirty="0">
                <a:latin typeface="Consolas" panose="020B0609020204030204" pitchFamily="49" charset="0"/>
              </a:rPr>
              <a:t>pasos de análisis de forma clara.</a:t>
            </a:r>
          </a:p>
          <a:p>
            <a:pPr lvl="1"/>
            <a:r>
              <a:rPr lang="es-MX" dirty="0">
                <a:latin typeface="Consolas" panose="020B0609020204030204" pitchFamily="49" charset="0"/>
              </a:rPr>
              <a:t>Se lee como </a:t>
            </a:r>
            <a:r>
              <a:rPr lang="es-MX" b="1" dirty="0">
                <a:solidFill>
                  <a:schemeClr val="accent2"/>
                </a:solidFill>
                <a:latin typeface="Consolas" panose="020B0609020204030204" pitchFamily="49" charset="0"/>
              </a:rPr>
              <a:t>“y luego”</a:t>
            </a:r>
            <a:r>
              <a:rPr lang="es-MX" dirty="0">
                <a:solidFill>
                  <a:schemeClr val="accent2"/>
                </a:solidFill>
                <a:latin typeface="Consolas" panose="020B0609020204030204" pitchFamily="49" charset="0"/>
              </a:rPr>
              <a:t>.</a:t>
            </a:r>
          </a:p>
          <a:p>
            <a:pPr lvl="1"/>
            <a:r>
              <a:rPr lang="es-MX" dirty="0">
                <a:latin typeface="Consolas" panose="020B0609020204030204" pitchFamily="49" charset="0"/>
              </a:rPr>
              <a:t>Toma el resultado de una línea y lo pasa a la siguiente.</a:t>
            </a:r>
          </a:p>
          <a:p>
            <a:pPr lvl="1"/>
            <a:r>
              <a:rPr lang="es-MX" dirty="0">
                <a:latin typeface="Consolas" panose="020B0609020204030204" pitchFamily="49" charset="0"/>
              </a:rPr>
              <a:t>Usado ampliamente en el </a:t>
            </a:r>
            <a:r>
              <a:rPr lang="es-MX" b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tidyverse</a:t>
            </a:r>
            <a:r>
              <a:rPr lang="es-MX" dirty="0">
                <a:latin typeface="Consolas" panose="020B0609020204030204" pitchFamily="49" charset="0"/>
              </a:rPr>
              <a:t>.</a:t>
            </a:r>
          </a:p>
          <a:p>
            <a:pPr lvl="1"/>
            <a:endParaRPr lang="es-MX" dirty="0">
              <a:latin typeface="Consolas" panose="020B0609020204030204" pitchFamily="49" charset="0"/>
            </a:endParaRPr>
          </a:p>
          <a:p>
            <a:r>
              <a:rPr lang="es-MX" dirty="0" err="1">
                <a:latin typeface="Consolas" panose="020B0609020204030204" pitchFamily="49" charset="0"/>
              </a:rPr>
              <a:t>Filter</a:t>
            </a:r>
            <a:r>
              <a:rPr lang="es-MX" dirty="0">
                <a:latin typeface="Consolas" panose="020B0609020204030204" pitchFamily="49" charset="0"/>
              </a:rPr>
              <a:t>()</a:t>
            </a:r>
          </a:p>
          <a:p>
            <a:pPr lvl="1"/>
            <a:r>
              <a:rPr lang="es-MX" b="1" dirty="0">
                <a:solidFill>
                  <a:schemeClr val="accent2"/>
                </a:solidFill>
                <a:latin typeface="Consolas" panose="020B0609020204030204" pitchFamily="49" charset="0"/>
              </a:rPr>
              <a:t>Selecciona</a:t>
            </a:r>
            <a:r>
              <a:rPr lang="es-MX" dirty="0">
                <a:solidFill>
                  <a:schemeClr val="accent2"/>
                </a:solidFill>
                <a:latin typeface="Consolas" panose="020B0609020204030204" pitchFamily="49" charset="0"/>
              </a:rPr>
              <a:t> </a:t>
            </a:r>
            <a:r>
              <a:rPr lang="es-MX" dirty="0">
                <a:latin typeface="Consolas" panose="020B0609020204030204" pitchFamily="49" charset="0"/>
              </a:rPr>
              <a:t>filas que cumplen una condición (filtrado por criterios).</a:t>
            </a:r>
          </a:p>
          <a:p>
            <a:r>
              <a:rPr lang="es-MX" dirty="0" err="1">
                <a:latin typeface="Consolas" panose="020B0609020204030204" pitchFamily="49" charset="0"/>
              </a:rPr>
              <a:t>Mutate</a:t>
            </a:r>
            <a:r>
              <a:rPr lang="es-MX" dirty="0">
                <a:latin typeface="Consolas" panose="020B0609020204030204" pitchFamily="49" charset="0"/>
              </a:rPr>
              <a:t>()</a:t>
            </a:r>
          </a:p>
          <a:p>
            <a:pPr lvl="1"/>
            <a:r>
              <a:rPr lang="es-MX" b="1" dirty="0">
                <a:solidFill>
                  <a:srgbClr val="79ADDC"/>
                </a:solidFill>
                <a:latin typeface="Consolas" panose="020B0609020204030204" pitchFamily="49" charset="0"/>
              </a:rPr>
              <a:t>Crea</a:t>
            </a:r>
            <a:r>
              <a:rPr lang="es-MX" dirty="0">
                <a:latin typeface="Consolas" panose="020B0609020204030204" pitchFamily="49" charset="0"/>
              </a:rPr>
              <a:t> nuevas columnas o </a:t>
            </a:r>
            <a:r>
              <a:rPr lang="es-MX" b="1" dirty="0">
                <a:solidFill>
                  <a:schemeClr val="accent2"/>
                </a:solidFill>
                <a:latin typeface="Consolas" panose="020B0609020204030204" pitchFamily="49" charset="0"/>
              </a:rPr>
              <a:t>modifica</a:t>
            </a:r>
            <a:r>
              <a:rPr lang="es-MX" dirty="0">
                <a:solidFill>
                  <a:schemeClr val="accent2"/>
                </a:solidFill>
                <a:latin typeface="Consolas" panose="020B0609020204030204" pitchFamily="49" charset="0"/>
              </a:rPr>
              <a:t> </a:t>
            </a:r>
            <a:r>
              <a:rPr lang="es-MX" dirty="0">
                <a:latin typeface="Consolas" panose="020B0609020204030204" pitchFamily="49" charset="0"/>
              </a:rPr>
              <a:t>columnas existentes.</a:t>
            </a:r>
          </a:p>
          <a:p>
            <a:r>
              <a:rPr lang="es-MX" dirty="0" err="1">
                <a:latin typeface="Consolas" panose="020B0609020204030204" pitchFamily="49" charset="0"/>
              </a:rPr>
              <a:t>Select</a:t>
            </a:r>
            <a:r>
              <a:rPr lang="es-MX" dirty="0">
                <a:latin typeface="Consolas" panose="020B0609020204030204" pitchFamily="49" charset="0"/>
              </a:rPr>
              <a:t>()</a:t>
            </a:r>
          </a:p>
          <a:p>
            <a:pPr lvl="1"/>
            <a:r>
              <a:rPr lang="es-MX" b="1" dirty="0">
                <a:solidFill>
                  <a:schemeClr val="accent2"/>
                </a:solidFill>
                <a:latin typeface="Consolas" panose="020B0609020204030204" pitchFamily="49" charset="0"/>
              </a:rPr>
              <a:t>Elige columnas </a:t>
            </a:r>
            <a:r>
              <a:rPr lang="es-MX" dirty="0">
                <a:latin typeface="Consolas" panose="020B0609020204030204" pitchFamily="49" charset="0"/>
              </a:rPr>
              <a:t>específicas del </a:t>
            </a:r>
            <a:r>
              <a:rPr lang="es-MX" dirty="0" err="1">
                <a:latin typeface="Consolas" panose="020B0609020204030204" pitchFamily="49" charset="0"/>
              </a:rPr>
              <a:t>dataframe</a:t>
            </a:r>
            <a:r>
              <a:rPr lang="es-MX" dirty="0">
                <a:latin typeface="Consolas" panose="020B0609020204030204" pitchFamily="49" charset="0"/>
              </a:rPr>
              <a:t>. Útil para limpiar y enfocar la tabla.</a:t>
            </a:r>
          </a:p>
          <a:p>
            <a:r>
              <a:rPr lang="es-MX" dirty="0" err="1">
                <a:latin typeface="Consolas" panose="020B0609020204030204" pitchFamily="49" charset="0"/>
              </a:rPr>
              <a:t>Group_by</a:t>
            </a:r>
            <a:r>
              <a:rPr lang="es-MX" dirty="0">
                <a:latin typeface="Consolas" panose="020B0609020204030204" pitchFamily="49" charset="0"/>
              </a:rPr>
              <a:t>()</a:t>
            </a:r>
          </a:p>
          <a:p>
            <a:pPr lvl="1"/>
            <a:r>
              <a:rPr lang="es-MX" b="1" dirty="0">
                <a:solidFill>
                  <a:schemeClr val="accent2"/>
                </a:solidFill>
                <a:latin typeface="Consolas" panose="020B0609020204030204" pitchFamily="49" charset="0"/>
              </a:rPr>
              <a:t>Agrupa</a:t>
            </a:r>
            <a:r>
              <a:rPr lang="es-MX" dirty="0">
                <a:solidFill>
                  <a:schemeClr val="accent2"/>
                </a:solidFill>
                <a:latin typeface="Consolas" panose="020B0609020204030204" pitchFamily="49" charset="0"/>
              </a:rPr>
              <a:t> </a:t>
            </a:r>
            <a:r>
              <a:rPr lang="es-MX" dirty="0">
                <a:latin typeface="Consolas" panose="020B0609020204030204" pitchFamily="49" charset="0"/>
              </a:rPr>
              <a:t>los datos por una o varias variables para poder resumirlos.</a:t>
            </a:r>
          </a:p>
          <a:p>
            <a:r>
              <a:rPr lang="es-MX" dirty="0" err="1">
                <a:latin typeface="Consolas" panose="020B0609020204030204" pitchFamily="49" charset="0"/>
              </a:rPr>
              <a:t>Summarize</a:t>
            </a:r>
            <a:r>
              <a:rPr lang="es-MX" dirty="0">
                <a:latin typeface="Consolas" panose="020B0609020204030204" pitchFamily="49" charset="0"/>
              </a:rPr>
              <a:t>()</a:t>
            </a:r>
          </a:p>
          <a:p>
            <a:pPr lvl="1"/>
            <a:r>
              <a:rPr lang="es-MX" dirty="0">
                <a:latin typeface="Consolas" panose="020B0609020204030204" pitchFamily="49" charset="0"/>
              </a:rPr>
              <a:t>Crea un </a:t>
            </a:r>
            <a:r>
              <a:rPr lang="es-MX" b="1" dirty="0">
                <a:solidFill>
                  <a:schemeClr val="accent2"/>
                </a:solidFill>
                <a:latin typeface="Consolas" panose="020B0609020204030204" pitchFamily="49" charset="0"/>
              </a:rPr>
              <a:t>resumen</a:t>
            </a:r>
            <a:r>
              <a:rPr lang="es-MX" dirty="0">
                <a:solidFill>
                  <a:schemeClr val="accent2"/>
                </a:solidFill>
                <a:latin typeface="Consolas" panose="020B0609020204030204" pitchFamily="49" charset="0"/>
              </a:rPr>
              <a:t> </a:t>
            </a:r>
            <a:r>
              <a:rPr lang="es-MX" dirty="0">
                <a:latin typeface="Consolas" panose="020B0609020204030204" pitchFamily="49" charset="0"/>
              </a:rPr>
              <a:t>de los datos: promedios, conteos, mínimos, máximos, etc.</a:t>
            </a:r>
          </a:p>
        </p:txBody>
      </p:sp>
    </p:spTree>
    <p:extLst>
      <p:ext uri="{BB962C8B-B14F-4D97-AF65-F5344CB8AC3E}">
        <p14:creationId xmlns:p14="http://schemas.microsoft.com/office/powerpoint/2010/main" val="245751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3031331"/>
            <a:ext cx="9144000" cy="795338"/>
          </a:xfrm>
        </p:spPr>
        <p:txBody>
          <a:bodyPr>
            <a:normAutofit fontScale="90000"/>
          </a:bodyPr>
          <a:lstStyle/>
          <a:p>
            <a:r>
              <a:rPr lang="es-MX" dirty="0">
                <a:latin typeface="Consolas" panose="020B0609020204030204" pitchFamily="49" charset="0"/>
              </a:rPr>
              <a:t>Carga y manipulación con </a:t>
            </a:r>
            <a:r>
              <a:rPr lang="es-MX" i="1" dirty="0" err="1">
                <a:latin typeface="Consolas" panose="020B0609020204030204" pitchFamily="49" charset="0"/>
              </a:rPr>
              <a:t>Tidyverse</a:t>
            </a:r>
            <a:endParaRPr lang="es-MX" i="1" dirty="0">
              <a:latin typeface="Consolas" panose="020B0609020204030204" pitchFamily="49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452"/>
          <a:stretch/>
        </p:blipFill>
        <p:spPr>
          <a:xfrm>
            <a:off x="10364723" y="5827775"/>
            <a:ext cx="1646302" cy="896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7842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8DD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MX" sz="3600" b="1" dirty="0">
                <a:latin typeface="Consolas" panose="020B0609020204030204" pitchFamily="49" charset="0"/>
              </a:rPr>
              <a:t>Juntándolo todo: Flujo de trabajo real</a:t>
            </a:r>
            <a:endParaRPr lang="es-MX" sz="3600" b="1" i="1" dirty="0">
              <a:latin typeface="Consolas" panose="020B0609020204030204" pitchFamily="49" charset="0"/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1422400"/>
            <a:ext cx="10718800" cy="4978400"/>
          </a:xfrm>
        </p:spPr>
        <p:txBody>
          <a:bodyPr>
            <a:normAutofit/>
          </a:bodyPr>
          <a:lstStyle/>
          <a:p>
            <a:r>
              <a:rPr lang="es-MX" i="1" dirty="0" err="1">
                <a:latin typeface="Consolas" panose="020B0609020204030204" pitchFamily="49" charset="0"/>
              </a:rPr>
              <a:t>Recap</a:t>
            </a:r>
            <a:r>
              <a:rPr lang="es-MX" dirty="0">
                <a:latin typeface="Consolas" panose="020B0609020204030204" pitchFamily="49" charset="0"/>
              </a:rPr>
              <a:t>: </a:t>
            </a:r>
          </a:p>
          <a:p>
            <a:pPr lvl="1"/>
            <a:r>
              <a:rPr lang="es-MX" b="1" dirty="0">
                <a:solidFill>
                  <a:schemeClr val="accent1"/>
                </a:solidFill>
                <a:latin typeface="Consolas" panose="020B0609020204030204" pitchFamily="49" charset="0"/>
              </a:rPr>
              <a:t>Cargamos</a:t>
            </a:r>
            <a:r>
              <a:rPr lang="es-MX" dirty="0">
                <a:solidFill>
                  <a:schemeClr val="accent1"/>
                </a:solidFill>
                <a:latin typeface="Consolas" panose="020B0609020204030204" pitchFamily="49" charset="0"/>
              </a:rPr>
              <a:t> </a:t>
            </a:r>
            <a:r>
              <a:rPr lang="es-MX" dirty="0">
                <a:latin typeface="Consolas" panose="020B0609020204030204" pitchFamily="49" charset="0"/>
              </a:rPr>
              <a:t>la base de remuneraciones</a:t>
            </a:r>
          </a:p>
          <a:p>
            <a:pPr lvl="1"/>
            <a:r>
              <a:rPr lang="es-MX" b="1" dirty="0">
                <a:solidFill>
                  <a:schemeClr val="accent1"/>
                </a:solidFill>
                <a:latin typeface="Consolas" panose="020B0609020204030204" pitchFamily="49" charset="0"/>
              </a:rPr>
              <a:t>Transformamos</a:t>
            </a:r>
            <a:r>
              <a:rPr lang="es-MX" dirty="0">
                <a:latin typeface="Consolas" panose="020B0609020204030204" pitchFamily="49" charset="0"/>
              </a:rPr>
              <a:t> y </a:t>
            </a:r>
            <a:r>
              <a:rPr lang="es-MX" b="1" dirty="0">
                <a:solidFill>
                  <a:schemeClr val="accent1"/>
                </a:solidFill>
                <a:latin typeface="Consolas" panose="020B0609020204030204" pitchFamily="49" charset="0"/>
              </a:rPr>
              <a:t>codificamos</a:t>
            </a:r>
            <a:r>
              <a:rPr lang="es-MX" dirty="0">
                <a:latin typeface="Consolas" panose="020B0609020204030204" pitchFamily="49" charset="0"/>
              </a:rPr>
              <a:t> columnas de nombre</a:t>
            </a:r>
          </a:p>
          <a:p>
            <a:pPr lvl="1"/>
            <a:r>
              <a:rPr lang="es-MX" dirty="0">
                <a:latin typeface="Consolas" panose="020B0609020204030204" pitchFamily="49" charset="0"/>
              </a:rPr>
              <a:t>Generamos columnas </a:t>
            </a:r>
            <a:r>
              <a:rPr lang="es-MX" b="1" dirty="0">
                <a:solidFill>
                  <a:schemeClr val="accent1"/>
                </a:solidFill>
                <a:latin typeface="Consolas" panose="020B0609020204030204" pitchFamily="49" charset="0"/>
              </a:rPr>
              <a:t>condicionales</a:t>
            </a:r>
            <a:r>
              <a:rPr lang="es-MX" dirty="0">
                <a:latin typeface="Consolas" panose="020B0609020204030204" pitchFamily="49" charset="0"/>
              </a:rPr>
              <a:t> al nivel salarial</a:t>
            </a:r>
          </a:p>
          <a:p>
            <a:pPr lvl="1"/>
            <a:r>
              <a:rPr lang="es-MX" b="1" dirty="0">
                <a:solidFill>
                  <a:schemeClr val="accent1"/>
                </a:solidFill>
                <a:latin typeface="Consolas" panose="020B0609020204030204" pitchFamily="49" charset="0"/>
              </a:rPr>
              <a:t>Creamos</a:t>
            </a:r>
            <a:r>
              <a:rPr lang="es-MX" dirty="0">
                <a:latin typeface="Consolas" panose="020B0609020204030204" pitchFamily="49" charset="0"/>
              </a:rPr>
              <a:t> tabla agregada a nivel alcaldía.</a:t>
            </a:r>
          </a:p>
          <a:p>
            <a:r>
              <a:rPr lang="es-MX" dirty="0">
                <a:solidFill>
                  <a:schemeClr val="accent2"/>
                </a:solidFill>
                <a:latin typeface="Consolas" panose="020B0609020204030204" pitchFamily="49" charset="0"/>
              </a:rPr>
              <a:t>¿Cómo convertimos ese proceso en un flujo ágil y replicable?</a:t>
            </a:r>
          </a:p>
          <a:p>
            <a:pPr lvl="1"/>
            <a:r>
              <a:rPr lang="es-MX" dirty="0">
                <a:latin typeface="Consolas" panose="020B0609020204030204" pitchFamily="49" charset="0"/>
              </a:rPr>
              <a:t>Exploración != pipeline</a:t>
            </a:r>
          </a:p>
          <a:p>
            <a:pPr lvl="1"/>
            <a:r>
              <a:rPr lang="es-MX" dirty="0">
                <a:latin typeface="Consolas" panose="020B0609020204030204" pitchFamily="49" charset="0"/>
              </a:rPr>
              <a:t>Consistencia de entradas y salidas</a:t>
            </a:r>
          </a:p>
          <a:p>
            <a:pPr lvl="1"/>
            <a:r>
              <a:rPr lang="es-MX" dirty="0">
                <a:latin typeface="Consolas" panose="020B0609020204030204" pitchFamily="49" charset="0"/>
              </a:rPr>
              <a:t>Economizar memoria</a:t>
            </a:r>
          </a:p>
          <a:p>
            <a:pPr lvl="1"/>
            <a:r>
              <a:rPr lang="es-MX" dirty="0">
                <a:latin typeface="Consolas" panose="020B0609020204030204" pitchFamily="49" charset="0"/>
              </a:rPr>
              <a:t>Balance minimalismo-legibilidad</a:t>
            </a:r>
          </a:p>
        </p:txBody>
      </p:sp>
    </p:spTree>
    <p:extLst>
      <p:ext uri="{BB962C8B-B14F-4D97-AF65-F5344CB8AC3E}">
        <p14:creationId xmlns:p14="http://schemas.microsoft.com/office/powerpoint/2010/main" val="4264762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3031331"/>
            <a:ext cx="9144000" cy="795338"/>
          </a:xfrm>
        </p:spPr>
        <p:txBody>
          <a:bodyPr>
            <a:normAutofit fontScale="90000"/>
          </a:bodyPr>
          <a:lstStyle/>
          <a:p>
            <a:r>
              <a:rPr lang="es-MX" dirty="0">
                <a:latin typeface="Consolas" panose="020B0609020204030204" pitchFamily="49" charset="0"/>
              </a:rPr>
              <a:t>Flujo de trabajo completo</a:t>
            </a:r>
            <a:endParaRPr lang="es-MX" i="1" dirty="0">
              <a:latin typeface="Consolas" panose="020B0609020204030204" pitchFamily="49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452"/>
          <a:stretch/>
        </p:blipFill>
        <p:spPr>
          <a:xfrm>
            <a:off x="10364723" y="5827775"/>
            <a:ext cx="1646302" cy="896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05976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8DD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MX" sz="3600" b="1" dirty="0">
                <a:latin typeface="Consolas" panose="020B0609020204030204" pitchFamily="49" charset="0"/>
              </a:rPr>
              <a:t>Ejercicio</a:t>
            </a:r>
            <a:endParaRPr lang="es-MX" sz="3600" b="1" i="1" dirty="0">
              <a:latin typeface="Consolas" panose="020B0609020204030204" pitchFamily="49" charset="0"/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1422400"/>
            <a:ext cx="10718800" cy="4978400"/>
          </a:xfrm>
          <a:solidFill>
            <a:srgbClr val="038DD6"/>
          </a:solidFill>
        </p:spPr>
        <p:txBody>
          <a:bodyPr>
            <a:normAutofit lnSpcReduction="10000"/>
          </a:bodyPr>
          <a:lstStyle/>
          <a:p>
            <a:r>
              <a:rPr lang="es-MX" sz="1800" dirty="0">
                <a:solidFill>
                  <a:schemeClr val="bg2"/>
                </a:solidFill>
                <a:latin typeface="Consolas" panose="020B0609020204030204" pitchFamily="49" charset="0"/>
              </a:rPr>
              <a:t>En 2021, el Gobierno de la Ciudad de México implementó un programa emergente de apoyo a comerciantes de alimentos preparados en vía pública por el contexto de la pandemia de Covid-19. El apoyo consistió en un pago único de $3,000 para solventar gastos durante el periodo suspensión temporal de actividades. </a:t>
            </a:r>
          </a:p>
          <a:p>
            <a:r>
              <a:rPr lang="es-MX" sz="1800" dirty="0">
                <a:solidFill>
                  <a:schemeClr val="bg2"/>
                </a:solidFill>
                <a:latin typeface="Consolas" panose="020B0609020204030204" pitchFamily="49" charset="0"/>
              </a:rPr>
              <a:t>Nos interesa indagar sobre la dispersión territorial de los apoyos a nivel alcaldía. Igualmente buscamos desagregar el análisis en grupos de edad y por sexo.</a:t>
            </a:r>
          </a:p>
          <a:p>
            <a:r>
              <a:rPr lang="es-MX" sz="1800" b="1" dirty="0">
                <a:solidFill>
                  <a:schemeClr val="accent2"/>
                </a:solidFill>
                <a:latin typeface="Consolas" panose="020B0609020204030204" pitchFamily="49" charset="0"/>
              </a:rPr>
              <a:t>Instrucciones:</a:t>
            </a:r>
          </a:p>
          <a:p>
            <a:pPr lvl="1"/>
            <a:r>
              <a:rPr lang="es-MX" sz="1700" dirty="0">
                <a:solidFill>
                  <a:schemeClr val="bg2"/>
                </a:solidFill>
                <a:latin typeface="Consolas" panose="020B0609020204030204" pitchFamily="49" charset="0"/>
              </a:rPr>
              <a:t>Generar un script en R con un pipeline que ejecute las siguientes tareas:</a:t>
            </a:r>
          </a:p>
          <a:p>
            <a:pPr lvl="2"/>
            <a:r>
              <a:rPr lang="es-MX" sz="1600" dirty="0">
                <a:solidFill>
                  <a:schemeClr val="bg2"/>
                </a:solidFill>
                <a:latin typeface="Consolas" panose="020B0609020204030204" pitchFamily="49" charset="0"/>
              </a:rPr>
              <a:t>Crear una columna de nombre completo de la persona beneficiaria con mayúsculas y minúsculas.</a:t>
            </a:r>
          </a:p>
          <a:p>
            <a:pPr lvl="2"/>
            <a:r>
              <a:rPr lang="es-MX" sz="1600" dirty="0">
                <a:solidFill>
                  <a:schemeClr val="bg2"/>
                </a:solidFill>
                <a:latin typeface="Consolas" panose="020B0609020204030204" pitchFamily="49" charset="0"/>
              </a:rPr>
              <a:t>Crear un indicador dicotómico que  señale si la persona recibió o no su dispersión (véase columna “status”)</a:t>
            </a:r>
          </a:p>
          <a:p>
            <a:pPr lvl="2"/>
            <a:r>
              <a:rPr lang="es-MX" sz="1600" dirty="0">
                <a:solidFill>
                  <a:schemeClr val="bg2"/>
                </a:solidFill>
                <a:latin typeface="Consolas" panose="020B0609020204030204" pitchFamily="49" charset="0"/>
              </a:rPr>
              <a:t>Crear una columna de rango de edad que agrupe a los beneficiarios en </a:t>
            </a:r>
            <a:r>
              <a:rPr lang="es-MX" sz="1600" i="1" dirty="0" err="1">
                <a:solidFill>
                  <a:schemeClr val="bg2"/>
                </a:solidFill>
                <a:latin typeface="Consolas" panose="020B0609020204030204" pitchFamily="49" charset="0"/>
              </a:rPr>
              <a:t>bins</a:t>
            </a:r>
            <a:r>
              <a:rPr lang="es-MX" sz="1600" i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es-MX" sz="1600" dirty="0">
                <a:solidFill>
                  <a:schemeClr val="bg2"/>
                </a:solidFill>
                <a:latin typeface="Consolas" panose="020B0609020204030204" pitchFamily="49" charset="0"/>
              </a:rPr>
              <a:t>consistentes con la distribución de la columna “edad” (</a:t>
            </a:r>
            <a:r>
              <a:rPr lang="es-MX" sz="1600" dirty="0" err="1">
                <a:solidFill>
                  <a:schemeClr val="bg2"/>
                </a:solidFill>
                <a:latin typeface="Consolas" panose="020B0609020204030204" pitchFamily="49" charset="0"/>
              </a:rPr>
              <a:t>case_when</a:t>
            </a:r>
            <a:r>
              <a:rPr lang="es-MX" sz="1600" dirty="0">
                <a:solidFill>
                  <a:schemeClr val="bg2"/>
                </a:solidFill>
                <a:latin typeface="Consolas" panose="020B0609020204030204" pitchFamily="49" charset="0"/>
              </a:rPr>
              <a:t>()).</a:t>
            </a:r>
          </a:p>
          <a:p>
            <a:pPr lvl="2"/>
            <a:r>
              <a:rPr lang="es-MX" sz="1600" dirty="0">
                <a:solidFill>
                  <a:schemeClr val="bg2"/>
                </a:solidFill>
                <a:latin typeface="Consolas" panose="020B0609020204030204" pitchFamily="49" charset="0"/>
              </a:rPr>
              <a:t>Crear una tabla resumen que sume (sum()) el monto total dispersado a nivel alcaldía.</a:t>
            </a:r>
          </a:p>
          <a:p>
            <a:pPr lvl="2"/>
            <a:r>
              <a:rPr lang="es-MX" sz="1600" dirty="0">
                <a:solidFill>
                  <a:schemeClr val="bg2"/>
                </a:solidFill>
                <a:latin typeface="Consolas" panose="020B0609020204030204" pitchFamily="49" charset="0"/>
              </a:rPr>
              <a:t>Exportar la base limpia con las columnas generadas (eliminando columnas redundantes) y la tabla resumen a dos archivos Excel en la carpeta </a:t>
            </a:r>
            <a:r>
              <a:rPr lang="es-MX" sz="1600" i="1" dirty="0">
                <a:solidFill>
                  <a:schemeClr val="bg2"/>
                </a:solidFill>
                <a:latin typeface="Consolas" panose="020B0609020204030204" pitchFamily="49" charset="0"/>
              </a:rPr>
              <a:t>Outputs</a:t>
            </a:r>
          </a:p>
          <a:p>
            <a:pPr lvl="2"/>
            <a:r>
              <a:rPr lang="es-MX" sz="1600" b="1" dirty="0">
                <a:solidFill>
                  <a:schemeClr val="accent4"/>
                </a:solidFill>
                <a:latin typeface="Consolas" panose="020B0609020204030204" pitchFamily="49" charset="0"/>
              </a:rPr>
              <a:t>EXTRA: Desagregar la tabla resumen por sexo y grupos de edad (debe seguir conteniendo una fila por alcaldía).</a:t>
            </a:r>
          </a:p>
          <a:p>
            <a:endParaRPr lang="es-MX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3616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Tema de Office">
  <a:themeElements>
    <a:clrScheme name="Paleta_Mafer">
      <a:dk1>
        <a:srgbClr val="F2F2F2"/>
      </a:dk1>
      <a:lt1>
        <a:srgbClr val="3F3F3F"/>
      </a:lt1>
      <a:dk2>
        <a:srgbClr val="7F7F7F"/>
      </a:dk2>
      <a:lt2>
        <a:srgbClr val="E7E6E6"/>
      </a:lt2>
      <a:accent1>
        <a:srgbClr val="FFF79D"/>
      </a:accent1>
      <a:accent2>
        <a:srgbClr val="FF9A95"/>
      </a:accent2>
      <a:accent3>
        <a:srgbClr val="A78EC8"/>
      </a:accent3>
      <a:accent4>
        <a:srgbClr val="2EBCEE"/>
      </a:accent4>
      <a:accent5>
        <a:srgbClr val="4472C4"/>
      </a:accent5>
      <a:accent6>
        <a:srgbClr val="EBDAE2"/>
      </a:accent6>
      <a:hlink>
        <a:srgbClr val="C5E0B3"/>
      </a:hlink>
      <a:folHlink>
        <a:srgbClr val="FEE599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416</TotalTime>
  <Words>646</Words>
  <Application>Microsoft Office PowerPoint</Application>
  <PresentationFormat>Widescreen</PresentationFormat>
  <Paragraphs>91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Consolas</vt:lpstr>
      <vt:lpstr>Tema de Office</vt:lpstr>
      <vt:lpstr>Introducción a R</vt:lpstr>
      <vt:lpstr>Bienvenida</vt:lpstr>
      <vt:lpstr>Objetivos del día</vt:lpstr>
      <vt:lpstr>¿Por qué R?</vt:lpstr>
      <vt:lpstr>PowerPoint Presentation</vt:lpstr>
      <vt:lpstr>¿Qué ofrece R?</vt:lpstr>
      <vt:lpstr>Entorno</vt:lpstr>
      <vt:lpstr>Paquetes y tidyverse</vt:lpstr>
      <vt:lpstr>Operador pipe y funciones dplyr</vt:lpstr>
      <vt:lpstr>Carga y manipulación con Tidyverse</vt:lpstr>
      <vt:lpstr>Juntándolo todo: Flujo de trabajo real</vt:lpstr>
      <vt:lpstr>Flujo de trabajo completo</vt:lpstr>
      <vt:lpstr>Ejercicio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Introducción a R</dc:title>
  <dc:creator>user</dc:creator>
  <cp:lastModifiedBy>Abel Vicencio</cp:lastModifiedBy>
  <cp:revision>27</cp:revision>
  <dcterms:created xsi:type="dcterms:W3CDTF">2025-12-13T08:20:06Z</dcterms:created>
  <dcterms:modified xsi:type="dcterms:W3CDTF">2026-02-28T16:50:18Z</dcterms:modified>
</cp:coreProperties>
</file>